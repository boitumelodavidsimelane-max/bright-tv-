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Ex2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519" r:id="rId2"/>
    <p:sldId id="1520" r:id="rId3"/>
    <p:sldId id="1521" r:id="rId4"/>
    <p:sldId id="1522" r:id="rId5"/>
    <p:sldId id="1523" r:id="rId6"/>
    <p:sldId id="1524" r:id="rId7"/>
    <p:sldId id="1525" r:id="rId8"/>
    <p:sldId id="1533" r:id="rId9"/>
    <p:sldId id="1532" r:id="rId10"/>
    <p:sldId id="1527" r:id="rId11"/>
    <p:sldId id="1528" r:id="rId12"/>
    <p:sldId id="1529" r:id="rId13"/>
    <p:sldId id="1530" r:id="rId14"/>
    <p:sldId id="153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60" d="100"/>
          <a:sy n="60" d="100"/>
        </p:scale>
        <p:origin x="80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oitumeloS\Downloads\User_Profile%20(2)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oitumeloS\Downloads\User_Profile%20(2)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oitumeloS\Downloads\Viewership%20(3)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oitumeloS\Downloads\Viewership%20(3)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oitumeloS\Downloads\User_Profile%20(3)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BoitumeloS\Downloads\User_Profile%20(1).csv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https://biovacza-my.sharepoint.com/personal/boitumelos_biovac_co_za/Documents/Bright%20TV%20Dashboar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200" dirty="0">
                <a:solidFill>
                  <a:schemeClr val="tx1"/>
                </a:solidFill>
              </a:rPr>
              <a:t>The</a:t>
            </a:r>
            <a:r>
              <a:rPr lang="en-US" sz="1200" baseline="0" dirty="0">
                <a:solidFill>
                  <a:schemeClr val="tx1"/>
                </a:solidFill>
              </a:rPr>
              <a:t> Core Demographic</a:t>
            </a:r>
            <a:endParaRPr lang="en-US" sz="12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'User_Profile (2)'!$B$1</c:f>
              <c:strCache>
                <c:ptCount val="1"/>
                <c:pt idx="0">
                  <c:v>Subscriber_Count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0E1-40C4-BE6A-D551380801FA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0E1-40C4-BE6A-D551380801FA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0E1-40C4-BE6A-D551380801FA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A0E1-40C4-BE6A-D551380801FA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0E1-40C4-BE6A-D551380801F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0E1-40C4-BE6A-D551380801F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0E1-40C4-BE6A-D551380801FA}"/>
                </c:ext>
              </c:extLst>
            </c:dLbl>
            <c:dLbl>
              <c:idx val="3"/>
              <c:layout>
                <c:manualLayout>
                  <c:x val="0.24373518726113971"/>
                  <c:y val="-0.1085677802827632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0E1-40C4-BE6A-D551380801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/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'User_Profile (2)'!$A$2:$A$5</c:f>
              <c:strCache>
                <c:ptCount val="4"/>
                <c:pt idx="0">
                  <c:v>Boomers (56+)</c:v>
                </c:pt>
                <c:pt idx="1">
                  <c:v>Gen X (41-55)</c:v>
                </c:pt>
                <c:pt idx="2">
                  <c:v>Gen Z (under 25)</c:v>
                </c:pt>
                <c:pt idx="3">
                  <c:v>Millennials (25-40)</c:v>
                </c:pt>
              </c:strCache>
            </c:strRef>
          </c:cat>
          <c:val>
            <c:numRef>
              <c:f>'User_Profile (2)'!$B$2:$B$5</c:f>
              <c:numCache>
                <c:formatCode>General</c:formatCode>
                <c:ptCount val="4"/>
                <c:pt idx="0">
                  <c:v>113</c:v>
                </c:pt>
                <c:pt idx="1">
                  <c:v>858</c:v>
                </c:pt>
                <c:pt idx="2">
                  <c:v>762</c:v>
                </c:pt>
                <c:pt idx="3">
                  <c:v>2722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0E1-40C4-BE6A-D551380801FA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Age</a:t>
            </a:r>
            <a:r>
              <a:rPr lang="en-US" b="1" baseline="0"/>
              <a:t> Group Viewship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'User_Profile (2)'!$B$1</c:f>
              <c:strCache>
                <c:ptCount val="1"/>
                <c:pt idx="0">
                  <c:v>Subscriber_Count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142-4AC6-A000-5D7767F2DCEA}"/>
              </c:ext>
            </c:extLst>
          </c:dPt>
          <c:dPt>
            <c:idx val="1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142-4AC6-A000-5D7767F2DCEA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142-4AC6-A000-5D7767F2DCE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142-4AC6-A000-5D7767F2DCEA}"/>
              </c:ext>
            </c:extLst>
          </c:dPt>
          <c:cat>
            <c:strRef>
              <c:f>'User_Profile (2)'!$A$2:$A$5</c:f>
              <c:strCache>
                <c:ptCount val="4"/>
                <c:pt idx="0">
                  <c:v>Boomers (56+)</c:v>
                </c:pt>
                <c:pt idx="1">
                  <c:v>Gen X (41-55)</c:v>
                </c:pt>
                <c:pt idx="2">
                  <c:v>Gen Z (under 25)</c:v>
                </c:pt>
                <c:pt idx="3">
                  <c:v>Millennials (25-40)</c:v>
                </c:pt>
              </c:strCache>
            </c:strRef>
          </c:cat>
          <c:val>
            <c:numRef>
              <c:f>'User_Profile (2)'!$B$2:$B$5</c:f>
              <c:numCache>
                <c:formatCode>General</c:formatCode>
                <c:ptCount val="4"/>
                <c:pt idx="0">
                  <c:v>113</c:v>
                </c:pt>
                <c:pt idx="1">
                  <c:v>858</c:v>
                </c:pt>
                <c:pt idx="2">
                  <c:v>762</c:v>
                </c:pt>
                <c:pt idx="3">
                  <c:v>2722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142-4AC6-A000-5D7767F2DC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9"/>
        <c:axId val="1786486064"/>
        <c:axId val="1786488464"/>
      </c:barChart>
      <c:catAx>
        <c:axId val="1786486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6488464"/>
        <c:crosses val="autoZero"/>
        <c:auto val="1"/>
        <c:lblAlgn val="ctr"/>
        <c:lblOffset val="100"/>
        <c:noMultiLvlLbl val="0"/>
      </c:catAx>
      <c:valAx>
        <c:axId val="178648846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86486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accent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Gender Skew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Sheet2!$B$1</c:f>
              <c:strCache>
                <c:ptCount val="1"/>
                <c:pt idx="0">
                  <c:v>% of Viewship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7C7-48AE-BF72-41D4705D03D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7C7-48AE-BF72-41D4705D03DB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Sheet2!$A$2:$A$3</c:f>
              <c:strCache>
                <c:ptCount val="2"/>
                <c:pt idx="0">
                  <c:v>Female </c:v>
                </c:pt>
                <c:pt idx="1">
                  <c:v>Male</c:v>
                </c:pt>
              </c:strCache>
            </c:strRef>
          </c:cat>
          <c:val>
            <c:numRef>
              <c:f>Sheet2!$B$2:$B$3</c:f>
              <c:numCache>
                <c:formatCode>0%</c:formatCode>
                <c:ptCount val="2"/>
                <c:pt idx="0">
                  <c:v>0.35</c:v>
                </c:pt>
                <c:pt idx="1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7C7-48AE-BF72-41D4705D03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accent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Cultural Reach (Verified Audience)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E74B-47A1-B6EB-C2F7AD5D70D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E74B-47A1-B6EB-C2F7AD5D70D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Sheet2!$A$6:$A$9</c:f>
              <c:strCache>
                <c:ptCount val="4"/>
                <c:pt idx="0">
                  <c:v>Indian/Asian</c:v>
                </c:pt>
                <c:pt idx="1">
                  <c:v>White</c:v>
                </c:pt>
                <c:pt idx="2">
                  <c:v>Coloured</c:v>
                </c:pt>
                <c:pt idx="3">
                  <c:v>Black</c:v>
                </c:pt>
              </c:strCache>
            </c:strRef>
          </c:cat>
          <c:val>
            <c:numRef>
              <c:f>Sheet2!$B$6:$B$9</c:f>
              <c:numCache>
                <c:formatCode>0%</c:formatCode>
                <c:ptCount val="4"/>
                <c:pt idx="0">
                  <c:v>0.08</c:v>
                </c:pt>
                <c:pt idx="1">
                  <c:v>0.12</c:v>
                </c:pt>
                <c:pt idx="2">
                  <c:v>0.25</c:v>
                </c:pt>
                <c:pt idx="3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74B-47A1-B6EB-C2F7AD5D70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712166192"/>
        <c:axId val="1657070800"/>
      </c:barChart>
      <c:catAx>
        <c:axId val="171216619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070800"/>
        <c:crosses val="autoZero"/>
        <c:auto val="1"/>
        <c:lblAlgn val="ctr"/>
        <c:lblOffset val="100"/>
        <c:noMultiLvlLbl val="0"/>
      </c:catAx>
      <c:valAx>
        <c:axId val="1657070800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171216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accent2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[User_Profile (3).csv]Sheet1!PivotTable79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100" baseline="0">
                <a:solidFill>
                  <a:schemeClr val="tx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ZA" sz="1200">
                <a:solidFill>
                  <a:schemeClr val="tx1"/>
                </a:solidFill>
              </a:rPr>
              <a:t>Cross-Sectional Analysis: Age vs Location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100" baseline="0">
              <a:solidFill>
                <a:schemeClr val="tx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4580927384076988E-2"/>
          <c:y val="0.26352885801230358"/>
          <c:w val="0.62627493438320214"/>
          <c:h val="0.379520991294067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Sheet1!$B$3:$B$4</c:f>
              <c:strCache>
                <c:ptCount val="1"/>
                <c:pt idx="0">
                  <c:v>Boomers (56+)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Sheet1!$A$5:$A$14</c:f>
              <c:strCache>
                <c:ptCount val="10"/>
                <c:pt idx="0">
                  <c:v>Eastern Cape</c:v>
                </c:pt>
                <c:pt idx="1">
                  <c:v>Free State</c:v>
                </c:pt>
                <c:pt idx="2">
                  <c:v>Gauteng</c:v>
                </c:pt>
                <c:pt idx="3">
                  <c:v>Kwazulu Natal</c:v>
                </c:pt>
                <c:pt idx="4">
                  <c:v>Limpopo</c:v>
                </c:pt>
                <c:pt idx="5">
                  <c:v>Mpumalanga</c:v>
                </c:pt>
                <c:pt idx="6">
                  <c:v>None</c:v>
                </c:pt>
                <c:pt idx="7">
                  <c:v>North West</c:v>
                </c:pt>
                <c:pt idx="8">
                  <c:v>Northern Cape</c:v>
                </c:pt>
                <c:pt idx="9">
                  <c:v>Western Cape</c:v>
                </c:pt>
              </c:strCache>
            </c:strRef>
          </c:cat>
          <c:val>
            <c:numRef>
              <c:f>Sheet1!$B$5:$B$14</c:f>
              <c:numCache>
                <c:formatCode>General</c:formatCode>
                <c:ptCount val="10"/>
                <c:pt idx="0">
                  <c:v>10</c:v>
                </c:pt>
                <c:pt idx="1">
                  <c:v>1</c:v>
                </c:pt>
                <c:pt idx="2">
                  <c:v>51</c:v>
                </c:pt>
                <c:pt idx="3">
                  <c:v>11</c:v>
                </c:pt>
                <c:pt idx="4">
                  <c:v>5</c:v>
                </c:pt>
                <c:pt idx="5">
                  <c:v>4</c:v>
                </c:pt>
                <c:pt idx="7">
                  <c:v>6</c:v>
                </c:pt>
                <c:pt idx="8">
                  <c:v>6</c:v>
                </c:pt>
                <c:pt idx="9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47-43D6-A56B-088CDD9DB6F6}"/>
            </c:ext>
          </c:extLst>
        </c:ser>
        <c:ser>
          <c:idx val="1"/>
          <c:order val="1"/>
          <c:tx>
            <c:strRef>
              <c:f>Sheet1!$C$3:$C$4</c:f>
              <c:strCache>
                <c:ptCount val="1"/>
                <c:pt idx="0">
                  <c:v>Gen X (41-55)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Sheet1!$A$5:$A$14</c:f>
              <c:strCache>
                <c:ptCount val="10"/>
                <c:pt idx="0">
                  <c:v>Eastern Cape</c:v>
                </c:pt>
                <c:pt idx="1">
                  <c:v>Free State</c:v>
                </c:pt>
                <c:pt idx="2">
                  <c:v>Gauteng</c:v>
                </c:pt>
                <c:pt idx="3">
                  <c:v>Kwazulu Natal</c:v>
                </c:pt>
                <c:pt idx="4">
                  <c:v>Limpopo</c:v>
                </c:pt>
                <c:pt idx="5">
                  <c:v>Mpumalanga</c:v>
                </c:pt>
                <c:pt idx="6">
                  <c:v>None</c:v>
                </c:pt>
                <c:pt idx="7">
                  <c:v>North West</c:v>
                </c:pt>
                <c:pt idx="8">
                  <c:v>Northern Cape</c:v>
                </c:pt>
                <c:pt idx="9">
                  <c:v>Western Cape</c:v>
                </c:pt>
              </c:strCache>
            </c:strRef>
          </c:cat>
          <c:val>
            <c:numRef>
              <c:f>Sheet1!$C$5:$C$14</c:f>
              <c:numCache>
                <c:formatCode>General</c:formatCode>
                <c:ptCount val="10"/>
                <c:pt idx="0">
                  <c:v>67</c:v>
                </c:pt>
                <c:pt idx="1">
                  <c:v>34</c:v>
                </c:pt>
                <c:pt idx="2">
                  <c:v>336</c:v>
                </c:pt>
                <c:pt idx="3">
                  <c:v>87</c:v>
                </c:pt>
                <c:pt idx="4">
                  <c:v>37</c:v>
                </c:pt>
                <c:pt idx="5">
                  <c:v>68</c:v>
                </c:pt>
                <c:pt idx="7">
                  <c:v>32</c:v>
                </c:pt>
                <c:pt idx="8">
                  <c:v>5</c:v>
                </c:pt>
                <c:pt idx="9">
                  <c:v>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47-43D6-A56B-088CDD9DB6F6}"/>
            </c:ext>
          </c:extLst>
        </c:ser>
        <c:ser>
          <c:idx val="2"/>
          <c:order val="2"/>
          <c:tx>
            <c:strRef>
              <c:f>Sheet1!$D$3:$D$4</c:f>
              <c:strCache>
                <c:ptCount val="1"/>
                <c:pt idx="0">
                  <c:v>Gen Z (under 25)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Sheet1!$A$5:$A$14</c:f>
              <c:strCache>
                <c:ptCount val="10"/>
                <c:pt idx="0">
                  <c:v>Eastern Cape</c:v>
                </c:pt>
                <c:pt idx="1">
                  <c:v>Free State</c:v>
                </c:pt>
                <c:pt idx="2">
                  <c:v>Gauteng</c:v>
                </c:pt>
                <c:pt idx="3">
                  <c:v>Kwazulu Natal</c:v>
                </c:pt>
                <c:pt idx="4">
                  <c:v>Limpopo</c:v>
                </c:pt>
                <c:pt idx="5">
                  <c:v>Mpumalanga</c:v>
                </c:pt>
                <c:pt idx="6">
                  <c:v>None</c:v>
                </c:pt>
                <c:pt idx="7">
                  <c:v>North West</c:v>
                </c:pt>
                <c:pt idx="8">
                  <c:v>Northern Cape</c:v>
                </c:pt>
                <c:pt idx="9">
                  <c:v>Western Cape</c:v>
                </c:pt>
              </c:strCache>
            </c:strRef>
          </c:cat>
          <c:val>
            <c:numRef>
              <c:f>Sheet1!$D$5:$D$14</c:f>
              <c:numCache>
                <c:formatCode>General</c:formatCode>
                <c:ptCount val="10"/>
                <c:pt idx="0">
                  <c:v>53</c:v>
                </c:pt>
                <c:pt idx="1">
                  <c:v>35</c:v>
                </c:pt>
                <c:pt idx="2">
                  <c:v>278</c:v>
                </c:pt>
                <c:pt idx="3">
                  <c:v>77</c:v>
                </c:pt>
                <c:pt idx="4">
                  <c:v>82</c:v>
                </c:pt>
                <c:pt idx="5">
                  <c:v>100</c:v>
                </c:pt>
                <c:pt idx="7">
                  <c:v>27</c:v>
                </c:pt>
                <c:pt idx="8">
                  <c:v>17</c:v>
                </c:pt>
                <c:pt idx="9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47-43D6-A56B-088CDD9DB6F6}"/>
            </c:ext>
          </c:extLst>
        </c:ser>
        <c:ser>
          <c:idx val="3"/>
          <c:order val="3"/>
          <c:tx>
            <c:strRef>
              <c:f>Sheet1!$E$3:$E$4</c:f>
              <c:strCache>
                <c:ptCount val="1"/>
                <c:pt idx="0">
                  <c:v>Millennials (25-40)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Sheet1!$A$5:$A$14</c:f>
              <c:strCache>
                <c:ptCount val="10"/>
                <c:pt idx="0">
                  <c:v>Eastern Cape</c:v>
                </c:pt>
                <c:pt idx="1">
                  <c:v>Free State</c:v>
                </c:pt>
                <c:pt idx="2">
                  <c:v>Gauteng</c:v>
                </c:pt>
                <c:pt idx="3">
                  <c:v>Kwazulu Natal</c:v>
                </c:pt>
                <c:pt idx="4">
                  <c:v>Limpopo</c:v>
                </c:pt>
                <c:pt idx="5">
                  <c:v>Mpumalanga</c:v>
                </c:pt>
                <c:pt idx="6">
                  <c:v>None</c:v>
                </c:pt>
                <c:pt idx="7">
                  <c:v>North West</c:v>
                </c:pt>
                <c:pt idx="8">
                  <c:v>Northern Cape</c:v>
                </c:pt>
                <c:pt idx="9">
                  <c:v>Western Cape</c:v>
                </c:pt>
              </c:strCache>
            </c:strRef>
          </c:cat>
          <c:val>
            <c:numRef>
              <c:f>Sheet1!$E$5:$E$14</c:f>
              <c:numCache>
                <c:formatCode>General</c:formatCode>
                <c:ptCount val="10"/>
                <c:pt idx="0">
                  <c:v>157</c:v>
                </c:pt>
                <c:pt idx="1">
                  <c:v>86</c:v>
                </c:pt>
                <c:pt idx="2">
                  <c:v>1039</c:v>
                </c:pt>
                <c:pt idx="3">
                  <c:v>305</c:v>
                </c:pt>
                <c:pt idx="4">
                  <c:v>244</c:v>
                </c:pt>
                <c:pt idx="5">
                  <c:v>248</c:v>
                </c:pt>
                <c:pt idx="6">
                  <c:v>1</c:v>
                </c:pt>
                <c:pt idx="7">
                  <c:v>96</c:v>
                </c:pt>
                <c:pt idx="8">
                  <c:v>58</c:v>
                </c:pt>
                <c:pt idx="9">
                  <c:v>488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B47-43D6-A56B-088CDD9DB6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overlap val="-24"/>
        <c:axId val="1710774992"/>
        <c:axId val="1649025744"/>
      </c:barChart>
      <c:catAx>
        <c:axId val="1710774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9025744"/>
        <c:crosses val="autoZero"/>
        <c:auto val="1"/>
        <c:lblAlgn val="ctr"/>
        <c:lblOffset val="100"/>
        <c:noMultiLvlLbl val="0"/>
      </c:catAx>
      <c:valAx>
        <c:axId val="164902574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710774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'User_Profile (1)'!$A$2:$A$4</cx:f>
        <cx:nf>'User_Profile (1)'!$A$1</cx:nf>
        <cx:lvl ptCount="3" name="Province">
          <cx:pt idx="0">Gauteng</cx:pt>
          <cx:pt idx="1">Western Cape</cx:pt>
          <cx:pt idx="2">Kwazulu Natal</cx:pt>
        </cx:lvl>
      </cx:strDim>
      <cx:numDim type="colorVal">
        <cx:f>'User_Profile (1)'!$B$2:$B$4</cx:f>
        <cx:nf>'User_Profile (1)'!$B$1</cx:nf>
        <cx:lvl ptCount="3" formatCode="General" name="Total_Subscribers">
          <cx:pt idx="0">1704</cx:pt>
          <cx:pt idx="1">791</cx:pt>
          <cx:pt idx="2">481</cx:pt>
        </cx:lvl>
      </cx:numDim>
    </cx:data>
  </cx:chartData>
  <cx:chart>
    <cx:title pos="t" align="ctr" overlay="0">
      <cx:tx>
        <cx:txData>
          <cx:v>Geographical Concentration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>
              <a:solidFill>
                <a:schemeClr val="tx1"/>
              </a:solidFill>
              <a:latin typeface="+mn-lt"/>
            </a:defRPr>
          </a:pPr>
          <a:r>
            <a:rPr lang="en-GB" sz="1400" b="1" i="0" u="none" strike="noStrike" baseline="0" dirty="0">
              <a:solidFill>
                <a:schemeClr val="tx1"/>
              </a:solidFill>
              <a:latin typeface="+mn-lt"/>
            </a:rPr>
            <a:t>Geographical Concentration</a:t>
          </a:r>
        </a:p>
      </cx:txPr>
    </cx:title>
    <cx:plotArea>
      <cx:plotAreaRegion>
        <cx:series layoutId="regionMap" uniqueId="{934F9710-23CD-4720-A2B7-506C569DC9CB}">
          <cx:dataPt idx="0">
            <cx:spPr>
              <a:solidFill>
                <a:srgbClr val="E97132">
                  <a:lumMod val="75000"/>
                </a:srgbClr>
              </a:solidFill>
            </cx:spPr>
          </cx:dataPt>
          <cx:dataPt idx="1">
            <cx:spPr>
              <a:solidFill>
                <a:srgbClr val="E97132"/>
              </a:solidFill>
            </cx:spPr>
          </cx:dataPt>
          <cx:dataPt idx="2">
            <cx:spPr>
              <a:solidFill>
                <a:srgbClr val="E97132">
                  <a:lumMod val="60000"/>
                  <a:lumOff val="40000"/>
                </a:srgbClr>
              </a:solidFill>
            </cx:spPr>
          </cx:dataPt>
          <cx:dataId val="0"/>
          <cx:layoutPr>
            <cx:geography cultureLanguage="en-GB" cultureRegion="ZA" attribution="Powered by Bing">
              <cx:geoCache provider="{E9337A44-BEBE-4D9F-B70C-5C5E7DAFC167}">
                <cx:binary>1Jpnk982lq+/ikqvlzYCAQJb66lakP/YOSi+YbVbLRAMAAGC8dPf03IYyzPje6f2xa1VuSx1M4E4
6Xeew/96Xv7zuX15Cm+WrrXDfz4vP72tYuz/88cfh+fqpXsafujMc3CD+xp/eHbdj+7rV/P88uOX
8DQbq38kCKc/PldPIb4sb//2X3A3/eIu3fNTNM7ejS9hvX8ZxjYOf3Hsnx568/SlM7YwQwzmOeKf
3h6exvhi9ds3LzaauD6u/ctPb7876e2bH/98q3947JsWVhbHL3BtQvgPGHHCCcHo2x/89k3rrP71
OBE/YMKyDLHst4deP3Vw4a8r+Y83D26M1Zv//gorfPrtlH+2rm+revryJbwMA7zXt7//5W2+eyU4
6/Htm2c32vi6kxo29ae33z/WDC7/5XjuXl/r839/24cfvzfF3/7rT7+AnfnTb/5grT9v4//t0D8Y
68PLEF+CfZM/9S9/tTP/psUo/QH8jaGMCPntD1jmjxZDP3DMCMr4nyz2x+X8T832V/f6k+0+5P8b
bPeX3vXHYPvuxH872MQPUnIKxiHf24z9gESGUyLT3xzllyj73sv/9Tr+eXB9f/V3K/9fEUAX89M2
tuOb66f41P62Mf8st/ybEQRJLSOZEITKf5bzKHo9TFKIot8e+os1YD2fYT3Jt/X8T0PoL2/2pxi6
vvz/EkP/Ojf+XlIKMM3uWy36Q3r866O/5dU/XfpXJe0Xxz99+ektFCkiRAZh8nuZe73Prxf/Yqbd
0z/m3e+vfYEzfnoLdiaIcIhIDjUuFYK+fTNDzv7pLSE/cA7RKBHGhKKUy7dvrAuxei2Y8gcpJJOS
kEwiRjK4anitgXCMpj9AGRUsoxJTlqWE/C4Hbl27amd/35pff35jx+7WGRuHn97CLd++6X8573W9
jKeSpZRLLhhNIdUjBsefn+5Bc8Dp+D/8yKfeNzFRjdR4N/V4UI0I8oREOZTKcY3veb1gNddDW+Z8
rf2nzSUuNzyW19prm2ckGff1YqerfhYht7xrC7qV9ralyxRVlfCw5Q3HARe00ltWBE1Te7Wl2+cS
ZcN+yCpJ807Oa97TxjAVJrSeSrtUR0HtcmstYq1aBG/1bptjdV+JpL1lVJSvvx1HrCqq45pzVoti
0JO9b8ZR7oa+LoumWYTKGtneTXJZPgq/lu9iSLhWfR8oU2sv4fpJ1HY5jEnVDyqtZ1jCuJAF77tm
HPQ9nZbR7bvRUXtdVT52KnajgnLJqRp1SIRK9UZ4MbhpHlW/8MQoU6/brOyc6TPfnLyRa99natVb
eRyXqrpZ5Tbks2sXr7qwTY9ziIzuCWo4z6uyFnTX9sxsitQa1qQTTWZVt2Y9goKUsUiGALdrqLSp
ciNHmaobCY/N1tmJXZ10ocoXNMdWyShlsk9CGs8NeJjPU+TlTdM6/HPV8O4u8XTeVMOncstXUa1W
8dWuIW+MkF6tIaH5UJLtC5pkchUcusg80lzVaVov+ZQsW6lkSWTIubQ2qJhU5fXoqi1vp/FAI0WP
xOv+hrBFFJJgbdTg0vmclnQheUPSQZWWzw9VaBuQX17mJktDjraku9DrVsJrcHAv+P9skEK+q4zC
bVprFXpT41z363zb1GtXOJG8aO/mLE+cKQ9dSOZi2IZwP/SirNXSdO1haLK0VS1e5T1rBHtf+Tkq
y91y2DrjHhaJ5U3pE3GpaZeeRiQsy2usJ+VtU923XNf+MFYZfoxmyS7F1g5dzkL3YoesNQplUdeq
J228N9UkP7vOpTmTVdMrFxm7xp7hQ+aoUCJd9bnB1J1caHBdrFW2VGo1clRjqsei8xBNaqn5dJWm
41PnWKqM2+gtE/2sUosyswc9z/bDzKeXkU5JlmeaNFrpcZ2Vn3s/qG1t5qMJ7d0KFWrf1psvsiZh
Rc83dN9YkoK1SIq+tvDvR7KY+MBMHXLTkeYhEXPDFMb24AhPlEud/OqpbS/03DYfxbQMHxb7Gn9y
zm6WhekiraO4H0kZc8S0Gc+uD+tDMqXdHSLjmN6gQYepWJMUEzWRrPtqy3n4ErY5/NxUfbP3oZf9
Xsw4O5r11co6cCv2VeeT3KdbfMcjYUdk9XoreZueK7Z2ARa22nPVUXjzJsXTYUjqqtqvVlYQOpjh
J9Ywb1RYadwvg+6LLPLygsSxVnPIypNGbrwIXmcPLerE+xEFiO6tX9Ynn7GxVdNahn0X2lM7ptOB
L0mpGGXg+PP0iJYkuyeDJZdVNLckrOGK26jvo23oHZ6nrGBD0l/1lZtuBigQENek7hXly/LOZAuc
k2F6JDz1ELB+OtTIjHuBs+y21rK9mHjKjmPF+Z61EI9jpiGAZuwucTmetpUwxUYzXhqemcuyHe2t
aYMo+thVL0Mnykq1bAhb4Zt6vo9LTQ6yqcpxP7e28UfaNLP5FGzE24WYh/aqBCkTD/NcQ8Q1NYXL
e0HKA1k6OirI2XQsXMWT5oMTqQwHNHdYn0ZOKlvYRWb+YCfd1165NtQoH7u1+Tym7darMsydzU2f
gbPU1E0aNj6cCWvztJmafEL9e1kNUqHRCoXaIa+b9DJqrJgeqFop/tK7/oDGYboce3RskScFi6gt
sqns6KFzizmsUe7xnObUu65U2chpr0h1sdTD1ejkXO+1wNewYKm8F7oYuqrJM+rJxdaehdEFM92t
hODbZzXkn9GpbhzeN3ZU5TDu/BxU4mrVyfpWj/LeyuVTgsSYW/QOD81Ot5e06T90nVPT0H8S47CL
1Q1p7NMoF2lyZGapIE43JUyrMNu3vnuMa19dIA7pZJ5oPtL3YeOXiUCvpeSeLR1S5djvWiqd0n4j
yrewX55erC6VilfveJco27EH2UxrbgnKZ/I+ivWgR1+EMsFqZFGRefCqme66Ru60tqceDbuGX3Gx
HQx1X7dg9lsrRa1MH+KVb1BQM7qcU6IWBl4PNXe1JWSkye3jIh4mkhyCJMUmMqgOUAiEVcyHXQzz
nmRVHjPx0JW0uS6D1DlvR0UFy8PcWIWHkqkOrkFT/dU516pssYWuIK/b2Hxe+3alajDcg3Hi2hy5
lcl1g9n0EVJo2I/VDBGTZmqZk3eTWXYTiBFlJlKpoXeqGcgT6qfD0vlcRn5H45yP0/i1ntm5WfAH
7LerrMGnCRmscBxRHjK6A4/Kh1BSVSbkjqb9FxRZPlRRGVpDbK10Pjs37RdWZQfIpFTNnYQcvRG7
qMxUeKdLo1wzVnnb8ZeN1dOBYKlGSLO0HIspG67aze9KncbHxYdDvUCUsfm8hc6odlo+dWiecrFQ
qEDpuqo12/Yyo0bxxpwrXJVQfO1FFhJUYI/4YV27uBPItbt2bsSDS9tdHfSYDz67W7Hcm96cGxNu
u3543/bdXdmZT4iNVsU1eVpi+y5SoxVnyRGEV3OytOyUnThSib9NFwfagff+NCTU7pKSFzZbG8WM
CwftCWi8ch7zNYHkwJPpa6nHk178Vbq+JtetmVTq03lXrv340PYx1/xa6Ge6zmfQIJWiHaR7Xx6J
Q6niS73f/HaxBDB5k57FQmDPmTjOAcSM6Lt2Z1BytTQ+701T1GS5I+tDDSKF4It6lqcpzmcyIhXj
GHfJpLXC07SjQ6a26XkimOdIly/e63wQNu+aZ9w2eRWrM9fPTMwPOule5cvRruamgbybBnGg3dKD
Q33emj5nc8S56+Oj5tXNMK7FGodnH7dLUNVnzYdig4DQYdZ52La8rCHuW7+oqWR3tvZfCJnuPOpV
TbKrgcQDeOFx7pJDx5ef6RhUNYorHcHHiT5kSwnmmQ+Tbncoyy446z93w40ln/g0Fo1n14gOzxN2
aw6+eE3r7ZAYdzLNrQY1BGL+MhOrUFgSCFVUkLY5Ts2wj6D+tjHZ11244a5MlW4zAj7XXJaTyX3Q
DWyVaPK48hsoAQ8Epbd8rD85w256Ql/cfDPEG55tQ5HSc9fFw7Calzot7/hSPvatPvSTvZhH4kCL
yQs29F7hSsbd+ipWl3p+0XjgirfJAVJY4avhNKzoI3X4cuh5pmhz3/lwmjb0cwjhcXJbIftRqyz7
OibrC1+3cCrHsili3fVFOYVd35RXCBJu38/HWnb7ztLD2PWXwkCeW6a6oKk/deYhcT4n9Nlw/fPq
q91SOsV4f5dM59Bm+4ku1zJ9WqAjUZM9W5QYcCAMFoc7zwj8d1xUaqC0eiut6nTE+4zqvWYZOFl0
VeGGZi6CS/tdNNt+S+eQD6i6NCuZPhKxnXgG3YSm/U3NuqMuEbjFlDhFiX2kry5ru3PoO1UFuZcs
7ubwnkxQW7YyapUiU1DOz9iMJ6N9UY52v01eERJvxDwXCwUV0LNj1mbvJ9545dfsfd0OxWDCAbBm
9kWYLfmUDWmW5ZqlLFOCofqZV7xMc8Cva5vzYD0tAjJLmc9l5+58Vs0+L9ss6LyuxvHCDdo8sibZ
iqaGhxxL3QgoQtT0j0M/1FyVa2D+gscGHKhLt+TKcSKubWbDCZOYXJalWZ+D8dmpd+7VqMMsDwPC
8JZNu+xTkB9QP4S0egcCr7pdQ9eAdo5JcLmPbf1zJVpyx7axPzhmYXOGstWValy5fQQ51AzQ06Ub
zsuQ2l6JqSJaOSns9ezKi0mg+d06N831bMv0EATmXvU1h8wCnR7cxk/d1O5EU87vs3Y2BZlJONcj
S0BAZtlWxKE1L5IJUB5O71i1YthnV4edw57/bOSgr4hZBFOu39hDMtTsKClsTcXjlMOryathGJl5
qOu6PaVzEme1ZGNvjjOe6ApN4zb1O8abKqgtEaBgkUYEakkm49cKU+52FVS7j1xWboZUyTqtuqy0
ZW7IluCrJizh49xWTaWEqOrmduZDQo41ckEeJrthiN1uWKGJXdMedNtct7mvq7RLwVtqrnOUzRGi
2qB+++jsjJ+cEFvMV+KZv0nnJgvFzAOrDqkUCZzIOf2aNWn30tqqblXTbrbZ8yzpzzQzaZ1TNjOr
sn5NEkWl3hpl1qG+6cbXJzfcsX5nM0+uQOfNXa5n4t6vcw9NGIIlLvk8NjQ9zBWnUHvHoO/WbtSg
SKXjuZCuMbuyrCH41slOFrzQteZ2Sje0xzVnlQLPGHTuxMohrW0yS/Km6kRzQMsCKmGVpXwRXbd+
mOnUvczMrdDy4Cx81NwnviAkAU6xlaDvWJXu7RLwkJd9EOiKYkhcOTXQzR62pYSsRvkG3RlAFnkE
4LOBrgvJ0H8g7TzB0qdgNsgEPU6U7ztGdjxu3CoB5QMrV2lzXrBo7gwvkc0ZC7BqMfflTcNscEpo
itEhqexocw3taKdgR/S08xCyFny2y8TXiazw/AElyVQYaPCSz24V9XhKcdm/lt+y3dTATUn3ldcl
0Byddl0RsjjTa8w1+dx2A1/yyvRtpWo8gAYLuJTQZ9GlS3MhLMTRpI384tcUhKqmPkUqzIuv1NIR
CKC0qSDpjE3L669p4tc5bwE/SGj/e/4k4JW60yT0+DUyKUg+eY9ogTMDwb1A0kc5pP/kjKatiaDO
0qz7uOpxue0AeM1q9jVLlCFkHAqvu7Ep1qGzO+z60R4WM/J9RbKpGJeN4yOaW3kLoYie6x6Hp1Gk
25SXnvQLwI0s+zCAV0Woq966mzHq6UqniTgMrE5qVZYjBdVZtutuHrE7DZHhRyen1OfcDHQHO9hd
Z3XZzjmSbi0yuqJJ/YEU/hPmRmHc9QfkJjDAOykhlVMGLajMUvE9css02zaEoBSXLQZ13NHVoUtd
iwwCVzZrB5HU1lle91Udr9sGQu6Y8W7Sj74sWVN0VqfhkncIjNLQoXocnITWK8F+IfsFnLMYJAaX
NTRZkIJwwzbvvYMwqmpo5XaVHXYIyyQ7bKvT7XvpkU+OFGEoNmATL6H/6Wezj5HIWzDdVt0lWwQ/
/bYNvwLdX/fhFxb57Po1GF39Op38/ce/PboO/vs2IPv7L1+Hm3//6eq3qehfnnV4ca9gdvjzSa+r
+f1esJhfV/fKc7/74R/48r8gyPffhqz/4uD/G14mKcNg8X/Nlvfh5eXNQ3yKv0/0Xkntr5f9gpUB
EEMzSIHmIpRSmbK/Y+X0B0rEK8JGacqz7BUd/46V+Q9cAnEWQnBAyFTCMn7HyjDSE+CWMiMAgnEm
s38HK2NgFd85OeOMcA63ItDkAYpFKeDtP3LldoN+qU2gaZMhBRlApzU7yVdtUM00ucz0HE5pqOT1
WAJYNDJ7lRMgzPwF4OCGq7mZ+kdSExAf9Tch0i4NKmY6mEfzqlM6ATwn77/Jlzms7m74JmpW1wVa
iG9iZ6UogczG6uZZ4xF0p/gmjQZb6c8ZjDa/sLE8CFLnFeuvfQeiuOWdGtIFeiqQXIm4FuYZe389
1dX7DdImQ26H2AsFocYpzwmoEBgA/Ry24JURCOgrhKXx52p7z1uXAMKii4rOXlsq9zPDMZcyPW7y
GTjIvjQ4KYa5z3E/psekS6QSIBEX6LB7Dyi39HYPlOawsfHKhXHKo/BdPuDMqjmz1yCc1Sr1yURo
FA2/2yA+cZUqTPwFYJwh7yOwZzrE0zbYA6Y+x44CenPQb04E+ObOTH1VntgweQ2ZFzWFYA0QlzSV
O2GxeRpoJfZsGURhOyjz9wnqSvPCRVKfeACzTLhHctdIeuv7Kw2GOFsJmi67iBPAAKGj6pB+HEfQ
u4usctuO0BjrCOMCU+/KOJK8bc20S+TnEIabZBJPCSLAwlzbRsAg5EZDhwwYCsQ6HsgXoFRH0Q+3
GdwLFN5uWMIBqEmzn5BuToTj/pwCIVc+SrzHjNW7ukEXgwgz0Nrptk7wJWmWsF/htkFpA2QObdBX
zd1ni+X71IW93QI0q/5dD5PxXYq37AoD10AeeoyxXI+jG29MwsZ8jM3TOLhnm3Xl7Vrq264bPmWC
PZS9PAg0XMcGHcgGvTnqHrqlhptS3MGuapmPCINzJ+mFGb/iPqkezLQ9mJi8ShH60s/4YerGo8BW
1SV/7kQ2qiwODvCvPGRB5NkQLmsvTpMH7rSM59IE6BwAo0sNnLqF9Sa6O7q6PIHantQA0AA4G5gm
ke8ZtzdLw88ALUAPl1N5P9SLgaowXQLpOc79GBXfwLQ9KdGZbetl3ayFn8c5l1N3Z/v53bAMAKGX
p6xnXAG8uCQd+4hWecr8mN2yOIkc5MMnHHiqJhj4kMQWA8rOa/OCZFuESD+TcQX+E8v4ThJ3BLJ1
JGt7ZP0KskBcDHxPdBNvvQRnNJHuho28F128NJTtpR+AJQqYrMBQa9eV6MQreoqS3dq62oWkBbgl
rpzoPyZI7+1af6pW+SDSDpDc8KGrxI7S9LrR/nOVrO8ITRSLyU0sm8tKVxemjcd1NGrr3G1Jr/AG
EwPoIr42y+hh3NUMChqBz2ToC9uX4tPmLS0aA9KTWZvcbfCZToraj/1mZ9D54SazpQWStliITxwL
IvmBVOE40nkPQu0lbSw/sQ7d4KrdZRu5maNVQHlPHdHFXA0XkZnzqKvdvE4nGBuCkCf8MvCYm8Sc
TBhg+92ndJwmJZfyqycn02a92pYamhx9vRIYidTXtUk+pclw6yi/zLr1OuiK7xFFRZ/edoD4Jeq5
ioICBPc/49Rfsc7fytLflAHBcIWSfINxDK19XqNNKAqSf+VSxXa8MJA5fcmKri8/TTIUoJ8UAhis
ELmqtuk9naqCt1NhjdsH+7QZK88ghd8ns7+balmAKnxKYDYSzbxLFn+d4Acb7M8VXYq6fvK9PYq1
L/z0PuuWp7UBtUSAhDYhUXIE7UTL9su2DeSxdOXPrf5csjVva7sz7XaWCT1Li77gGoV84vrYSnLq
k5g3CQxXQn+L0gao4niPp+ShneztUKfFkNmrMaOQOO1dTKt8XOZDaeVtk932SzyznhXOeOhXYU/Q
cIMAh8bM+11MThUr32XZeFfT9pgyBosElYYOJQmHQeg9jHgUzsq0AOPc8gq+56k+aBg02JjCHGIb
P9Tzcijx7JUuIcJfsQjr91Mnzgt0SrjLinltD1Laz1GUdxq+U5IJQCUC1LDDdgXxG2l5GFfNwPFY
EXt7hWPcl9TBZC+w5GLtELsf1irZscGcWg4YabQXyOgW4t1dNAuMc0dy34YbmC2dsgoGVhwaVArB
vyQ7JPEVBxJeTu1tQtmneZn3nMsvDZ4PQwnwBXq2pCi5gLuRz7zCfd4v7pG3VVGPyzmW21kk08fV
NQVMeu6pr/YO+G3f1FdIpLCprJAWn01rHTDhQDm0FOUu6fiHUs9nVn7ZMBfQTDZ2H3ED0Mzu+vUj
ghaxSu0djN4uke0eyxLGY832Ga3sIMYu53UDQMzfVwmU3LV5itOcM+7yyUAzzPgxUJqnG+BsNlFV
d/y4DeXB4H7PymUHUVKqDV1ANwh9AiRwPbR3ZRogCJHZrzN4OUXxAviSUamr0IWu1mOCryMrYVjQ
XGSApZOGXW6hvGARWlSpb9vw4MECDrJQV1cf/BiWvF7GI6N2j0d/mp2GdbGH2gqRjwbvm63ZbVic
jIHptRNXYqg+z+UMQB7vjQMgWmOxKyHCXFg6FYC24S45TjR5mBb2CfInVel4Cwjoc921kGokAt9a
XsX9i++rBcBtmut6/VTJcVCVD0e3uN3ANtAXKUw3zboHDsDsI2lxkWY+FsLgcLFBg5L3aDnwUZ6w
/DK1fZFgyQqfkXee00OM4cKmoG1iS45sQmLft/N6b0tyi2akzMIPXsI1Y4XAgOWuWn2uM0hF6wq7
ixTLDllZQc0UW32O3n0sbaPwEk+Q746uBSVDomyBAOjcJs1ZbGY/DnOB40Oz6T0n6NQ1NSSh6yQm
ReZQAchEcweCCv4p2p3v4SGehmtqQCguJ0BbiqCDG6HFhSm12gKA2fUxAiZGg1HUWSCxwymJIk+T
WZWmSS8mWx3JsqqAbldoXHH6kgE6tK7ax2GjBxSyT5k8Q10ubNoA0aenNcW9smRRFQJf7tY+FDXj
MJDwRh+jdGeK3We6DjBTqfoWcMaMKhhtzI3qIozbAdpU9cUyz7mNHlTcxxL8MEtfC8NOdM/DKxBa
HmO1XQJUE4CxRG62Gr7kQHtv+bZfJ53CyCzRkA8dKOIDr7vhAgt3uVRoB0KikFmr4mA+yA4yQ99e
wQC46BlMj+Y+xnzoyuodYBpamNhkH8JSj7dCz3kv77uWrVe6nPxFxhNe9JtZjnionqmsvmxT+wG+
ijiitr4Ay6l2k/a9kODVMCk0dNk1MGZcdiipHS6gmQjzyaxySQvU+rorNIzyIceIxOKi2yoy751D
LRguS29EFTx8YYAHPxbBCkdyYjioGTMPeOenpm8PqENDUjShZgAz42oOBATk69PcmCm/wZcQyi8L
fklFk7K9B3KGHkw2LDBWJJV5EbIezXlekBPF5Kzc8hjncsnNXE5T3gRtAvQUGwwxjhyh6GBKt/Fw
YbIMP3DPGQP1vJopp5gnG3wR0sNOA5YJSDnMZ67S0AOSbeDTlb4wybZ0jwgvkKHGFfCEatYNP62Z
rZJrPa94Kbzf8KFxMPBVXYPofdrZHl73/7BzZt1x61iW/kPNXACIgXglGYMiQrNlSX7Bsi2bBElw
nsBf3zt0M/PezM7qWvVez7YiSAYInLP3tw8Nltsg6/xvsi5hOpuwPrYbbI0RXeFlrmR4E3BRfFuZ
qk+QHernRaOkr/AJN2PfYYu42sb1hlJeeO127bq2e8otqkyy2YPha3lV9OVrL4p+36mwuQfTFt5U
va13sq2C52wVzXvAa3tXkRaiHBMBPU1N3ZwXWelDIWy7X7qMPUBq4+8ZLKNDyHJ0OHBI1ieqa3x9
k7sFAowNUBnqej7UzJU3UHvzVGzgcHhgNvAQbGz3eQVHJlj58FHoLnoMc9cfUSnhjempgrwsGnUa
2NYcGBTXQzbjloZCK6jkC4sumpjsONEuGpJqxH0HfIpS4EQcHR2AgkfnhXkOxVafGg37GYgTgBU7
L/rrDLvoMBrnUyiZehcuBJfF14WkU9kPO96z5jypHDfgtqJ5pqWiaDUyfXBuEecVBf3zFOHRCtcE
SVTC+Clc7ndUoneUemrOHdDwcwYl+1LqvjljCTTnAZd+CHnk4Kx40AAd/D4JM/HSOd3c1643X/sS
H2ACwFel02xKGNdjkst2fUCp5yCwzs0zBPoKmlff3sPt1tC21RDArsWybubV/QZ/DmGvJ1oc8aqY
56q/9kMM1k8xBs2vjur1aZzUfJjn68XCvDhYseCstniCXY0fUc+LvesC43ZCVCyR2OceSEWaG+lX
cWayWtIQayoGZgaxT2/z+oCSYf5ZtlO7L6O1+LbV1u8MCs9Lny/mGQfK8pPp4ndGQNtk0TIfFh+t
h7nkMmmFpju51t1NTuc8i6ewyn9mWxWYVz+09mUSFf64wIZ6UBrbXh2FQ5NaO0G1NWU/3g/UF3jH
0SxBecxrmZ87WBvT80yMwWuASynRHq0DTEwQ/JBS9fVbqKfutKCC/QhqfGBSDEou+6lfKvgjSgBd
4CPFlTHfbD+GyLZFsk6D1bH310PL5W3xwztwf3eSaadRW8JmLc3W1jdEDxBxZU+Z34drmL1h1S9+
j7YwA+NShtFbIXj2Uq+c6rOe6/W7m0PUSe28YE/hwkHYdmqqFIiF1bM4a+T4exgUREA2+MrEE4z8
B4gB7L3HL/Kx4QVYvudVB0ma5vl7a0z0G5s922XdgGJgyZ29bUJXnbDjs4eG5+I0cLreV5Ounwvt
5ymGKSmwf2YzOWgs/Lulq+bbopn0vadLcw4HDhYDQkeTrsBW9mwaVxW31sEzBbmE8pItDXA5F4no
UuVUHItitHk8FSFWQ7VEKb6+v2AzN990Ua4PPtP6a4sPSHTdNM9KTE3abPhhBcT3w8Da+uS8rn6V
Fc+/K0L012Ba16d6ojhInNjUo7Ws/VXTut33DC8zHU3xwwUrfeWVU2iInchFTPDqXLoi8I8Zg/sT
E4/GZR/J0Y8p90F7TwgUk9iaTT8sBV/u4R2E975Qy6N0tgczArXL7WeQbU8rl6hPixKbt51WGuyy
qMOqgF4mC9ixWYjdEpxRTbM4IINvgdsMY38XCLW5WBVseQGCWeI2yyxXN0Ohhq2OTaSzOiXzsjT7
YRWLv7Oaz0FCVgZH30Zh0DTXtpSEMV4gtOthTfhLp3uIKTpYR7j6uAC2KySDZSDCsVsT3fkZwJBW
+a8tyssp2ZyAfzRPAfexJVF+zifBb7Ngo0OsohyVxdUVqeE4SLsmai2LN8PYkIB4XWRSg1fblzLn
32VWZSk1C8wbOLR46JAE/c+K2XHfwFmsPxGpL3AHs3evcnBVhVvTcG3ts3BL/jD5GRbtBntV3lZR
O654ThOeXW41Nfd1L4OvaurDMQkmgWN1Xa+WYFb75lsjC1x6NYL+OnK3TUscVsC4+uFqzm0Qrm7L
ZoOo1pr+SzbCxeNrIJ6nzWmBJoZlQBsE/L4K9b/8NAHRAGW7HCiPiAi88KtXaD9tQ3p1EMOSophE
Hf4VXcxSYXcaUcFW3dzAePs0IZutEgfPJziTEVleFh2ccYA3d+rTwIRGiisH+gRJcfzD5MwG8tZ/
Wp/cc9ig/OqI6nFlj74kxY/t0zBdP81TcfVRi09LlTcB7NVwNss+Ir6I5QD39S9i9H+wL65AcPMJ
Fv8BDANH5joUmnMoz9CQ/x0YdtkCSMTLuGQzHpvYlx6mt/Be/a9B8F+nK/7uHXwq/QRa+X9tD/xr
4uJPbJ1d/+zv1Hn0N0LCMFSRJJQoDkb879Q5lX/jkqI7B2sbKfx0//QGGEJYiiFmdlXrI/y8f3oD
XAJHV1pg1yQqZNeP+4cD8i82DxJp/2H9UEHw9f+yhGAeR/AoIiaIBvt+vfC/egPcDiLCacNiK6lj
aUYgfQhW4cCKuRqnd4ad08dzAK72kodkAwsUdquC4ZsBNrkL6SY5DLCpg8PZ9lAvQo69GW50lW93
IJOn6HHpYEfjbd3GzDyVnPfzpS7QVexC0ur+uDlZHEocqtmJwSADKE3rKdepxQY2P4OQvW6mvsZB
n6gAUm6ajZ0fvlcwQhagNNDoaJSuJsge62nY1lTo3stvZCjHVicad50dygKcgIi3zvj1Hm/SCk1g
q7mZgX24cnxZFLw1iHpcr8ka+a26dw2OvENZd1HxDHlJlE/Mbq37MQSDehRwhsmjmCSPTrLphus+
2ag6ZXR1897NcPiO1dzP0ZfJq0YMqZ0jKC4ozerqB1CWtjiOkV42nrLRNO6mkHbWt3Mz9iwN500p
fxtixRRgIJwKiYhXWDjZHY26KbIJbq/x72LUwYaOqBvbX2GU6w4t49wM9nuVN2WX6s0tXYOdisIT
xo5QD+xY5h0tH1uaQzrNhbLDnZVBBFhAtktw49qwiH6DmRynI51wnP/yKJwhhKwIAsB/HmaYRSyt
SERxkFRyrFFJ5f1q8zUdIV1txyLDT/J7JZUUqQUAEexNA6djSDqH/Qv2CwX3cV8vPIxk4sNCStzg
bALw1hEu1uJB2MpM1//fVwMKHDgkd7NGt/cWTHq0YQKWYFrNDVopOnzjK1jGt43la/e1G5emeVBd
vYMh3R02WFMhdOkzYMHya9aW40226CVGv/zGvWw/aFOiewzm+Y1EQJFBBuafC/cxL8G+c7lmKagP
6DquywIUdFm24kGsawUguFHha5hxM713rKyWs2D9CD8qtGhABvByBcyj9trMqGmuASgPlXZfqrWp
C7BuRbMv5m17NAEaKPyowRwHOYE3rAJYlSka9SoeRInLWakts0TbQr53JqTFjRa216DoNPD7u3It
IXgsgTaZSbJIBn1K0LRJyDMt92CRvbXkYAO2bj8kwITR7MRaCnZXFrrZ7ivWluxVmWh6LyvPdh0P
7JQ0owfH2+hq3uMNM+/4r+xQtBMY3pGzrkw6hEy6W13lvTwRCh8kIaSfx6eg3VBjxPmYswp6T1Pi
xR3LhgdvdvbDfK219fIR8UFHNwTArDgGEKLsbefbhv3uCSmbPQ0ma04S+EGxy4mfJtQ1IVK29z3A
0vG4BYN74hC9r6xcZyiWXleGyQbEJeHT0JMdmRX8Qq5mV6JvD9AIz3kH3bMMW5QpE7aOu9bgnaFK
Wh5vGg81XmAtrqkuy+io6k2oveYq2PHGdTLRamxA60aNSJieqi7pp6C4lJ4AM6TlUIZns41uO44U
RTnk4gZ8CGmziO1QTrs3eEfLAHBUl+cg7OeHxrsAYRw4qFMsgN0McRWK+m1ibvtlGi7PVAJcmSe7
fDQsmndZs8gn+CRvG+T0JzMgOnRjcdM0Bjwe7Bc2lAdXBnJnyDazZO2wf+JCEIHZFNo91Vl62CD4
7GCL4MpcMAzvq16liK0L7M/MLMFrzefsHtIDTUs52B3QX/+ECqY6tATqYWcmf6lZ5b5khVseB8D0
7GTU8FsSOfZQ32q+74KtfW833byg7I58QkbKAMjQqo3RWYRx4CMFddOqZeeiEf0jKJ8oFkDUf5Mx
VG+qQkuK5ozDS/Gr3AH6L6rTJHuVGItYCJfLuh02A/YrdxUMFdaw8jLOTuXpzGCO5IAndnIxUbmj
BEVaXA/h+mvq55exl6ikFQreN0jp3RfsAKyHPhiYfudcAFEjivhHVM36zg48g+daZ2lYM39b9YP5
tuT5Ri9VMy67ear6OY7YUtyrrlCPeMzrjXS6/Da0E83Rf0XTfo5wU3GdEd6nWZ3BFlkJPJu6o7Q9
tkz2r6g2gby3K5PdQc2cP1VBBMcHxuYbYiRgY+YoOBBD+ReZD/07uoRpTyOkDpZV2aeWh8Ouq1Zy
nFVwQj4IbiFwN1LCr1m4Xsy9H4ISsoGnSdg6AM1LL/x5lNhsw3Y8WjYiuERM3x0nEKonyCbipaf2
B4e/c6JrdilzLWhcLWL8StuWY9UTfqv4dF/6qPrSbtuWejqDfOy3PF2bZoSAby4jYimJmMb+EVnK
5qy3aykQtsy9WzOoE0No5WkZPAhS9Ir3xJR5ysoge9d27g/gqa5slQh+Vxsj1+6nQNSjDRr+CK2v
K29a36wwwvEUkmGds31ACnuptul3Zot7rexN3XXm3VD2oJZyeOZdF+wK2/NX+PY1qLH2TlXjbU+7
6abIWxvAEnDktylnqPR9fub9QBLa8fxrAMc7HrMhXWvkjXQ2o1wYhlOnAwLzfMbGEnICLHLtgbrr
bTFfVt2IPU6+DxYaSItSNT5u3YRwR9Gc26XeI4RVdOk8VKK9aVlfVjH07jme7HhfA204o8iJjthQ
9QU6Fahkl4mvKIMC+a1r+jn7WCVgcgQx6u6prEiIHEjVAc+1QY3WszDja2GbMDz1Y7N+EVEzuHQO
kFVAsibr9QjiFMXa0WUoSp7oRhb1Xmk6g+l0sk3hQPmjLaY6XUZJ0qClv9tsgs+ATc79KnHk30WT
fAU6UbwjwYbtuek2BMKISyYzZN05bGd7NDD4U7D8YA0B52N/mQoW14p0t9UalPB4oDcCpwQX7Nfy
4lofveHNCDxSNqE44OInBiSvyvYNSs2vazXb4KZqr7v2RDMlkwkA7rhXvfc/QQpPLtazbcZ7zk13
yPq2+wlLl+0a2/tko0v1bTawV5KRyBkeGPTGuEe+cw91aNhdKcydaRF/K4oo2/FImYTnTZYGXQXz
rqfcXcxocT1ZMQJF2C7CQCrdu7auL96INda1v2aw5qZNZABJMaDLvDNlEDD4grC3Yj5gP43lki37
dWPTbpjD5RIa5DBbu7Y8Buy9fEBAqZ/r0tbvUSnKN49c1ttq8vFp1aIBsKy2DhiFj16B8Y3HeYbT
hsjjx+YUOXZFX6VZQaJbcGQOtO8y7BWibx9uYYCwS06OeQk1u9OA2xlEo3vEN6HbymJCGHOwT/PC
awQrAro3i3MvTETbSTBBX3PVvlSWVCiRI/gvxTb/YqJrk7VSvyB6lYdZQ1RDTDaI2xz02lzOTygT
Bhymlruk67RI5NBFD6w2+U2xqey2R4Li6oRkOGuJQY8//LIVwD/4aaNOBefdU49fMzwNg3TpME3u
lYcuSJuaVIe5qfIfCyrJY+6ja7aE0fJlEHV14IAR76BW8W9LU1dfhsLxNUYnslZxgBTYYVwBxaeq
9jkYWmhAFS1KGE5qFCX8mlIg6Eh0jdpsvZqQBftdWzHdVBvqi3hYidotyrFr5lJBChIlgiisXKpp
x9pF3rTlhqIB1jhqhoDB8gldX+xqF0GL6TKkfU5AeIs2McjCHobRsBfYi6XG4mxHpCKzycSrYfwt
YL34LaSvfrBuWoBcjagW4e5/86yGDeoG0yQIb0FeGYe6/Q7KzJ1oDQdMbmZaEw+/ZJeFBpZ80Hfw
hSCf5oCFtwwl3fBQsYXfzQ5QDiXIG7nKjU8Kkei7Eeg3/KPaC8QQGghB3Fh4mGzqthixNXuSbAOQ
U5EeKzHsVa3SdSym8rYrIGdPrRsSui6qTPpgDuIoB7WQclZVqVFwu0C5K3LbYG1Xae0ZBGnlEbdG
UjREJ4gVu9xBnSy/rNtCTBr43LTnVRTqmHdR+NQFxB+7puTFCSKiMuko+PCytAStx1KsNPEDdCBk
72jO4iGHkPc6Df62Z3VjYhqUVY5Cm+RHn9fhDiWMeAjNHBy6jMufgi2Q4JBqhVGGbfiG+7K4rG7L
fijk8wZEDzOmdmXTwGHmwoNw9xKbVmnhZFkIdyVok6rfzqIRtovBvc2IB03le1CA1jCVhG61DngV
G9SNca4E+c2j0e0kgOmbALvcawap68dcULtrxmJ+Q3C4vp849qdPz4GF0mGrGvPgftqmDPQJ1O+k
ZU311YRFD0YsND7pO5/f8VJPu7xQYleIvIlQPITkzoalutMNX74DlRY730n+c24a2yR1IYiJq8L0
9xU2xZvedPwSQQr9UkOiAieVoZxu+YjA3NqO7VPb6qtJWVVnT0byTZbZsKsBP90QBLVbiGib+eDt
2KXUmeU5CvvlcasnkMveD0t3aHKkvokY4Y1J+1OTNftaIlOBsFKY345QIpq4dwYZ2y4cniivt+MM
mbZAc6+KS2ej6AS8ajm0gefxQmpx6hCQ86kg/DWn1MBhnf2zN0HxS45g2r0OJ3g1WIoTGc1PgUBQ
PIohv5NuLZ8oNkUcPBZ6o0a39JgzXWGBrcP3Rrf60Rpi9mzVw07C1xeSTBcghxnoLFHSOMLtJ3Vd
dVdiyXwbx87dsrZHw71M9gJJHud4kJf+TmAVB0jDVrAQsIEgsAZT0onwmzDGnSW49EsRIszfhc3z
sKFoiVdKm70OCyv32L8RGeoKiLFLZeyJZlOV0MkKKJ1LX33l27CESbbhgFZ11aTKoSfE/u3oo87Y
8Fp3apCJbPyCAn7KSp5Qk234i0XqxwxGe4uDtt2Q8qlzNNdQT1BUY94OovpEHkdUTYikMcF1qvp1
/t4hTfM2rcPy0gK4EgkEReDzWUejr7TeOEIVxapvxkm0+uy3zkL5bICxHsHAqXjRDtY652W37gl6
vOGAUvmjGpC9NWRYHuaaiyWeu+g3iYr5fbAVGc7rFk3FfUMF9KQIhT5iORWItKIvfwyiX9cvxQz0
rFqZreOyW7JXbbw8DrAcnyF8mEMHgiFIFpYRcROKrlSIAmT+uKw9UtrECRskjoTapSzzchcViPGd
AsEbcJudXi6A/Emx26DAleAXw3CvDfxY23TiQ2akO0DwL5ZdlaMaTxSqqWRRBiZ2UJFfcvMQQRrC
dojcwjAd6FyWe7Sn27LDGqf8ppXLPIJyYP4CYQfeFZxhENg4LqukFrD/Y4+5PzHSGN3L2nMbgUGq
oXrprImVs+7nNFJYPTnGNkxKPlszzWk/LcFPMjhkynwIKWAL1+e8sPyCAjVMoU+pBAEBchcUtnik
CIjAegV6EvW1uoWBsD4rJKLvcKdoxAJXvkts9UPaZgg194MDdsspQqM+CvIdRiEgHYPBDRniLYBJ
N6jKtx0YEBVryIwmaQpr96Lpiyfk2vLEDnWlAZDwawJ2rqsHjF4oB1idjSBgNw2UwZI6ZEs3sobq
NG05ou99pWfobt3oqzPUDsSqS8vyIrHrJKYYBUQQPvft0GQPgWkn9G1YWQsym6zMufx1NRPqH7B4
CgjfokdiKR0jzCKIe9ltzVcbYfs4TmWZF1McGfi8b6OYIpgTcydNcGBuziedtujbswMg/1I8DGjG
+Y1RBYIRxbygkRn1os05Z7PfkPi0+NZ8FOoi1jb6vRRjob+tERK1CNGM2Jx2zRBKWP3GqQd0Drx4
KfUigdD6wg43vIkKxOinxkS3Bn2teRQmNM0eEdFpudkWbJX7bSzxrTZz4qNGr9wh4lsUV0iBAVsI
a1fMCVXobFdEqXimUy+YoTujFP59DqFCPeauaKtjAZxu2uG7R0SENlih2TSPZ74gH79fHI6Zp25R
87a3JXMGIZ1uFLfzEI3buS9Lz4+iNGF+hD7k1LlqOAXesSJYu8XbtFHzFEQCXz4EJIjSCDeaHaAU
Ao7MNCjXBx+MzgMaKnN/QJSCBPsyBxd2HAcWBA+FbbU7bKhf4Or7AeCp5qs0l4qsSFH0aKPIC7R0
iW23LqYQ5Ra8PUTC0CU+6G3F927jBqH2/wzKRx1ZlYkxO81fgmVDkLng3zWwt9NADCgRnyMIlWJ8
SnNR1KwbrN/ZRyCT0FslwYJRaXEmnHwYVrdczCQhMRswn3mH1xPdSYWArjnIJehRII0Soathc6AA
NEvGUqPucA7O1DBmu7kn5gUyhgO/1CvwEs0C9gkx2T8TlIahiy9nEexy1v/EDAWbRNP0Bs5ginvL
ulvor+qLcFF/P1coLxBjVTP4VbRu9+tYf3RmfVmB3+K7orfeuzUuNn2y7XBiI8jzzxyi0HOzQ9WF
cQl5jYw9KRmyfleufoSilVf5a38l5OcCI0uKLsDcE3hX+5FvbteBuz3k6xAc1dyjFeYowRCxiq/g
+xAqufuE3luxLXvjiI+pHqcdhHH6IIbOJP9TkL0sYf3rROVzSG63fiuOeaXOwTxkR8wmcDse5H7f
seppiMR3Kyuw9kDfu8csMvTwyZnLhQ83uW/Zl7GU7W8fyfxuQFMGWhLJ5Ydqi3B2dQL7V9tMt3Sa
undOAP6TgVUge3uCASH4um8LJ+ibBAhih3fqnNlu/R3ViPvXYsCLLW05H0xL5Y8rnD1va/W1msfs
dW5BWKHbUD9D5OJ+EGchWeLBvilEjTF/ILfP3gNZoSud7yhFyqmHRZRAL6t3LpwhNc2zTiJgBXtQ
TXxP2vxVNtoXh5GCbIz7bkHlxHT2FEyyPf6TU7advw8hKGKcgHqhdd6mtAywVXeWQAj9O4LMEcu/
oQjg/WhEVCQO4njH3IdvQwmNmbfptonXSYZXGJbTNF+uAM7YIbWpgOReKV+U9AGCAjMkD7x4cSPK
7MEi4ZxKCjk2vSK2qMF+OLy0cWs0Th8AtRXsG3CwdtnTLa/ftqbs613F6bhrbds9l+CLa9BXa/W0
Nf6RTphYE6wT2W3B0t58oqu8Qqa/MYSmvrI0qcPyuchdAGJQ931q8Moeynxov88ledrG8MmP/sWX
1zEFFG7H2LwFCsTOlSG1lGRHjNw45kW4vNd03W7t5E9mnbedDLmJed5yoL71eJ7Xvrl1dbSeqIDc
s6CuvelYgL7nymZSi1kxequzO7uM+wwe8q9OjyjnVMSuEnDUx7KT040K+5+2h33VQeQ6qU51GCnw
V0ySIL0PC0Af0DaCcS4znwKIXhI2yDfsofP71GIaTzUbpMp7sGoThs7spo4ruAPF8Ekm+gpByT+o
RIwDwZAfQ8WSjGwO7yOFcGiah6Nw6KB4fULnVucpxfuyHCoj7Tk0Rt6F/wQDdQiC6koFtqTAmdob
+kIq6uD1YYQP7KX6pHJkXr3rEcIW9UufybcMeWX0ReOaVmGN7VvRV8fAruLHunZsYBxiW11BOwvq
ZocO9pVW9Gcj8y4tnUSLxqU7oBZwu9nW4sLrKfjQZgW2yRqbtItqki1vXtoSPylQ/ylKKHQ80HwD
O8m5wEyOoctekV5G7QeiZ28BwWGDAxNvc+neZ/iHuz7wa5oB2U7aAmYbGsdCPIbDsBxGe93Iw6y9
HgQ++0AjiloDTC1GEmFvxD7YYh03WXtaoP0C76gvU2m6r7RvaaIyCNeFWfFSRl19VNRmOCNUAIgx
A8M8ZdMB3YxFWzyOAJ0k8cuuXuxlcnI6QRzEHv45ZKMaHn1RiDPI0voX3woDgaFGk0Js/sKnabgg
rlt+yRsUG3FQAa1KLPC0+CoO/w5GlNPNMDUvzCP5NPEygmgC6yh1Vb6AhQ8n3C8wRH7bt1iyN4qL
bys05JtAt5iABKFzGHerUkWs8xpjUPqJPUuYh6mj64+cBXpLp6A3CAUBIwvB0wUYn4DEqWwOi2Lh
aS368dVAST03HoeljfL2Ee52DZrfYgjWVUr7Y8pKmNvgOwQMFNFBeUDLQ29ZiMkXmynAVSGXkYyd
/Yg8xhVBlHqktX4cgxLzE1ApSsDg5ZYW3QZghRMI2SWyrbzIxzn+nGECiZmlpI1+WlBxsYMdYXZ/
jCzZ0N+3ccerIkxY245x7zMIwggoJ5ioJFHVOnY/w3uFAMSH/WwnqEJrOCMaJhE483277P+YK1JU
bN633vt9DnzuWPMITp6m1a8JRGKh1grKO/FnO9DgHvv134eCoFgN0j4y5IvkSHdhBth8+xfA4D9Y
9v8Z+UCckANZpvyaKfyrX9/9d8gHQpj/mQ0AZPAXMCCiUUhABVBKr/PwOFPyX7/ILAIRdOOKpA9r
3p2ctGw9e7FRkv7/7+gasf0TYolwG5KGiiI4SYlQUv5bBNdEfilaV9tdCDdV7ZpZjYBlnEaUpUHt
mGo81A1lms6/0EyK+b9haOj1if3b9yOIiXQkU0KqUF4fxF+m7i1dpE0jtd3ZOkDGw0CGRSrBAlzg
uUIgIAqUbt/ATxTzLZkq+kC2FkoD74RJYagH+SXTLSgmjLMZRPL5bP43mPsfx3r+CdBQQjD3MSJ/
WUn/z9zHfxuOfMV1/vyzf2ZzgXkSrYHZoM8AfvAP+Iapv1H43gjgMvwHKiS4mH/yNxjPihUBzkYh
oos/xDv4j2wuA38D+pYQCj5HkZD+z/ibCBfw18VHoyvmQ9CeUQp8U9JrdPcviw/1Fd3M0qItrj3g
S7h694yBeSVkFhdmwmo387q/rDPoSqNKe5i9BJbc4Oh2xI2YwgL505cM0LUsNNpZZMtZuSNB6Yu9
V1OOoHqO7mBwGNF0SwSpp5dKNA6DNjKkIJqO+jIJwGSeJxCuCOeVkXwsjfkcXCGW6Nb3ORpSqR2G
YERDR4CF9qr8GAovfxDdg2suaYt5bR7jr8h+xSS3MaWZAzIgMbDtVwTY8mPg4ZVqDkSPmRwRGkVU
Qegg4ylQNtuRzhUAJOmqBmDbPij3tu7mPh1bDNbJeuZnzFvpghtk76dztSIxDblxqoJjlpXB9zKq
Q1RJeNDfI4zhys7AauD3W6WBWpBtQzaXcKtOHdxqTMQIskqkJA90FaPa6n9kVmXgOen/Ze88tuNG
si36RagFH8A0E+nokl6kJliUKEbAe/v1bwOqUqncelXz7kEPWi0qSQIR15yzD4O6TdRFOO2QzCsP
R22Sv5os/vpTY/fFBeM482CYRn5k+O/vJi+PDnqLJJSSX0RBkxbutwG3VrPJ/W68p3PTv/i+5Nfi
qSJ8Fq6nNnYp/Jl6Sqv5DuyFXDJ5kwllwUrhsuW4EXu2wyPKgKmqoivH4qtsci3S7z3El/6xGZoZ
lFgcgmPoUJAZ0JV0npWqtb1m43Ze1e9rXJM5ux+/VNs+7NUhoYb9NBQQ5PZN38cnbGyyYiveOcVG
j0ez2Cgk/6/Ksvpbj4ltfhXGBlQZs+WZg65l1a8ObVi3B/HIpDUrs3g+srJJ9f3Aue5sI7lQ5Vx+
RfPWjpuRWYvWt/l2kD66LXZHqThksmd5bXoUWRuZqFZ/mnrdjN8BaVUTXTBIScbqNbYfJgStDUzE
o68E+MlDV6QiivduR2cCgnCC9pZ5GSd0ZNm4z/LEUPgEcfvWexGGOL35ass3pQQSczscBjryUBgo
UkWGSzHUCoe1hzucGb2bfFZKqFO9itCx8kNaYtMabRmbt0WQt5TpYaqZxaFddOzjomjXVBrttaTX
ysd2FbuvuneUaCF1UhEd5JwBokT6GzG2a8tXzcfYUSX4ZM0snQKbX/8Wu4r1CaST/iWaxyKIlVmc
ACIVrJ3RT5djhfh6rovo5n+XyT9z8f9ymXC0/rOS82fC+W8U6J9uFP7urzeK/QvMEBNrgOGvSAeq
he8QYUPAgbCE77kC0TZPFErK324U0MNo2hb0sHAd0EELD/y3GwWIsGeZfEVTcOGtas//oOj0rD8W
iEApTdtybO4T3cMR4OrLn/90o1SKbk7NCDoH9qwnxf2w1zXHunATnrLYyDDMdBjs56ELX1yzwnEn
wmnOt6lcTqvKa5uJ1lM3DyiLWdZ2Zn9wwCN/LnC8dZu8Qu9jGcDiHFm0T2x2smynRyGcvjGb+FdT
zxu+1nXWWDhJc29GUKDqz4bV2dpWeVV7145TfcIvjsSOg2M++yU0Cs4rAA62cV+2ptxaOsC29aPm
+jBfW7bLYTXbMV0DJnAR8YFCS9+WBTjjbRaVKLQmy4sCm03IYzEZ8WWXmJZG/1f6V1Fefs1aqndF
X3M3Fgik03SxiDqoVHEWXltstLcSBfUVrjD/Mp67ksHHYByt6L7yvYNrp9W0GfLe/xbHRn2vkAPh
nYKRFVeW9TXktztvARG5MeNnMEdizEAXhk7Fiafm8smqfTwa7WIBaspqurDSBsl92vo7Oh8TakPn
Po0mdKPEr8aHKPa+or4tTjUNyd04cNxslS5pkZ3KK4BRls4ZuwIGvoTV2Z79aXodp218QxNp70SV
hSc8MfktjM2bGHDguzNFNl4Zi+XboA8F10UWQ08MY+RTQThKGDwAfuoomHC+XLuZYnvuJxJShOdP
d/zF+tqr4oMPb+luTktx0Ac8BhutLeIvoynFXcoUwH2yhCxOuG722KD1XVUUEAqZnaknEbmLcGS4
HUOHXjLVMJrhFrhVca5uC9Ri8ThauJIt49IyS9Q4g6l2TuTVl7JrZzRSffiSRBFeF72x39B0MWsG
6fECAtqBZyTyNuDSY/tf2f4JVWF6Zsn8MY25ge3X976o0MF3Z3TpsxxzqiYrHV4yvztlqGXjIE3j
x8VE2ILTbnLoHvOE0MM7zYDBsB9n1fMwquqNvtz76HsbVJJeNSnkjIxlf1vrnr5lrAtYaagWyFK3
ApeGhb3kTWGYnsKFyJT5C5wJYN28DHtCD/DmgDaHUmCBOTUr2GkoNDbdk1OC9hoW9lPDlgaIcGql
NtulBQ+VrKioaMVGgbkAIWUuNKlGtIClklakLA5W4JSHss3C2I0JclPkNX4mm9oGBdQKq2pXcBWW
debOU1r7H5SJi3ZRegxjkRXUUEJktACwKNUs/YAhE6CJ1+nh2XUWXFbF6ZMzZoCixeokuhDNgtZy
VsyWK0vX3OmZNDXo0pCOt6FfDc52XhFdBkQkCtXU8I/2CvHSV6CXvcK97BX0leVJiIpgBYDFc2Gj
/qFggryH5WNFhSnawRfZC3xWskSrJBaqWGR04TdvnuNxx7gQ7BiSRBBkhaxERL1g8qnNFVM2LMSy
waXdvK0KBwmEv0LNxAo4EyvsLEoteanbpryTQrcdfNmdbVNH+dO4RUxHiziMcfk8YD7MtoWAqKbL
yi13JubolOWvFZ/tFb/mrSg21p5g2Ti14DVEQ1FdJK1VJGATF4gbbtfsGyyF7JzMjsPunskGw0x3
MZux1VX8mFnKpleRMzVPMCDKdJcV8OyYg1GibEPl+lqgMwXDiZ0Z6SdEKHLa4TyyMqSZ/N4ovbSJ
Wry2kzgwcy82A46evD/qUY+iJwIQjX62YSm9DxvmeotrafrAoIdFqcjK9DUTMUVbsxY4ZaGjktF8
Hm280m3+YjK+QlKMZAbVyGjFEpRi0bPQzySOs65xk7uCPTGFau5DotGdapo3akhjHpfKwG06ZVm0
r5KF2JslNcPWHOzGTiHkhsqmUOsjkmPpxQ6rRMsD/Y8CeKg0u9zqsdZzoCZgU5Dd8he8TQND4OvU
lQ7QNpGW3Z5VFb1GClXn3Ol6c+GZAN9ZZ8bqjj0mzmAerZY3RArQjvNAQe0JK5wBx2ZYAzGt8oyN
U9Fc5ZMx+ycP3+rXqUpj/aIyspaehYLADLoxTT4j20ToBHmQKjhsOa83naeL/A5BywRvzXRH4zii
aAVG4epa+9I5NKbb0gA1u0HfNhunRLK8v+MmRq8fcdRx6CkIKBUb8pIXHfkHL47GcrQzksqFPFD5
7kVkTjI+DkkLajSSpveReANSaGr84guquCw/Dl6SMgvLJSWzP9XgchwYEwgAIzW3e6Bj8M46Fm0s
JtHewskPC+4WFFu1xBA3dRkATAirPLox2IGptM1PLAscZAdprF5dVy+1I3h8T+0ZK+a0IXj+vkF6
5tfN/TGEW35GfCm7BfwYuCJ3rpcIBFh3WYfWpPE5J4a4kFQadudeZEloPMi+c6CoVrN174UyLbes
TGK80pH7zSWV4L3TZhNgRDHaT1JLURW4Vto+gYJsky2dJ4fexAhp3OcpkhouKsO6j9D2igCORfhQ
N0YcXUxY2MWmqapGJxpgVDY9ZmazY6qH8BmJoA1dk1wAdeS+wd9hV7nFmtVG0UO7Ikou0Bbhz6uC
+ajzPZs0c7IHFXIXwXV/s01lvaLJA9gHokD1gdu0GAhcBAlj0PhuDKBYNbxXgE+Q3OJk5+S18X/2
ewbkyjoWXNTmtpgZ2zMMrZLyCk0rK0tQAfwWmiqzABSo/ibXlccmA+p1HdBSAe7y8EZ4fEVmdls+
RXPfJHFW7CJkjlhueS+KDeTYcfFOG1j5EaDwmzL7xRaIaxBheObJkf+dlSCLNG8YnnVXFbBVTZl+
GOVgLP4fazCZ5xvpRT8V1lOv+qEDyYRVBXYJKNRrE10BsoPKogbIAIzzb+o9evQqLAoP5XREuehN
KQQMbZZNvBENbevWc/3mcWh13LRummbPluazLhqlo57A33tt4HYD+y0GNvh045bvzQ0d4JGMSfNb
b/RjoD1huQ/ZV2Pgo3O4TxgffBojKWJEIuV8pvRUGZVCPu45N/oXDUTES6SKQgCyYM8XqK4RHP6k
fmxGwAWHdjCNR4FlRG4nHjCxbRtXe5OlnOOtxB0NOyMZaEOtsUJ30OuZ9mbwbwa5QpS70WIRH0O3
k1s+YX9TmQi7kOMvhl53SIMJP4bYpDKtT31BDbGFGgMNuzZa/YtmTt45snR5BmeCwg5ptzECXlFt
to3bViLD9bHA7miCIxgm9bIsxT7UbXWlG+HCb8Cl7/nucI/D/IMRfxNkvDaXZdg4AZNf2lMT7+9b
44c9JfQieY00/cNnLHypezzTKmkuqQ7yB2qg+cWDLRaUTcY+08YZ/mDpnXVZpxD/a7fo7jqIrF99
tyVUDWt5289QWxFrkv8wJhzyRl0Etp1BV2fssR3Ryu5MKfVto1XxblCWfpE6PduObBKHEW4LPhN9
3jE60M+ZWZpbUcrHaTKawIpmJjldXh9Z74PozWLt2YqmT5Nw1Zes8h9G137NEFIEua7jRPZqd5OW
c71N265DU0XtmSR6BxhqsE9NH5mP7KqswMFmcRSt2V62osvuBoD86Ex9hFNaaILOKa3BH5clH9VF
Ovk7/NfF2Y+68lVVqziwoGHXJmBB7JfNT2soAmok/yq3Tb5c62Y3I5uYTexUOuol6nFoj+bn2SoI
TzDa/KLP8PCjmhUHg+kOLoJ0duSBIqDnwXUxDNziwuHJHpNpl0dRdl/gjYFPi8Ro2GIHSokecRdb
Vtn78U4TyEWLEQ0FIpH5hleku0L2gmydfU7KmIswGSMzxFXX5PVLYnTDa9dDxZkRS14yrwABTOID
A7J5fEm9MLor1PRZZf78pFpjeNLyqAwgpnb7sPZDUKFzSS4Gv/3PLIbYVCnVVDbG8gYQpo6N+j1N
Fn4B1uUbWWga2is/jW7GGQm16aFyw5fMiZm1lGtdY9xUfF68IBGUqFARQ7PgFbyaM3sLU9nfgZny
n8NymbwN8Phz1k1zf8DJVJyFqKYvjiAQxh9TbRtSrN5nEGmZWJrmTaPH86VdRUMQGlr7hgy9e1zg
e18SLR9vvClz32vQx69KOjdSc2Dmr0O+0AnFjslosw9LQmAyz33ucaMAie/6m3T0iiCtTGcXOgxZ
DUMDLVd69WtEkRYYPtkxmAgEMK5hbvtDVIBiDeJIV/sKX9s3P9O9qw664HAS2tQEBXbANwdBV7Xz
TO19tsnxYM6a7Qo/9M7uyPwI0o99z6z13rIVu1q2GjYJFOJJL9pF89Lh8nOTc4117dKjJdgNptnu
hFvHn6dYVmhkah7VUQDnynCg7wq3I6+jaOroZqLLvhSZZt50iEXOMaqs+4k5HxIBpo8xMTxudwij
skONVHfneR47fvcjFRz9OiS8dTqtARBnn9m7uwKdyUH65O0kXtZgOtLbI+uVmjyXqv7ASmFf5xQ8
6CPMTIIkLN123ErJOp2X1XCedI+1sxW6Kg78KRR3VqK8uwQz5RNV6b0uNe1cT6j10HX0Llaxxjg4
MtG/MP4wvqDhZKTeDpm6TdH6vqS4Qa7Lyic9Jk0sIE0ieWB8zpvcEb2CQNy5Kvos8MQUBQMVB8rM
8N4V3BAeUFzOcaN6bfXlJJKxf9dwibE65MpVc8bb4kaxdrTDsnrJ6r45ZrMzfMEwa5zCoirvW0qU
K3gpsG3GaCanQA/bN8eq26f/Tff+/XRPsFj55+nezRLm9edsxt/He8tf/nW85/xiL0sfvKEOCyhG
aD/Ge7i16cBwapvmQmVlS/nbdM+0fwFRalm+0EkR070/sFzNX4ht5Au6ZNx4Jguj/+LXhgvL9O73
ZaXjMmozDTZPbGRhFWEs/+N0DwU6OJsZMFg4Vb5/0a+Vv1q7AMTcTfIU1TA9kelXYXMxD2blbV3f
oaWAS96Xw2aehsjnwaTDe0k61j9PYW9o2geza7qviKgg8sHoxOxNu7Q1xtrhlGu3U2lmopMRoZlf
s7UfGpbWqF+7JOaIoX+D8lxNd3qnKhE0ea/uxNpwMZxvLlqD+iLQaumUl40fWV8TVyJgl+zsfNY8
uuWU20RHn71v145PrN0fnRmdYG/GkXWIpgmbRAjJfdjPaz9ZtB69JSVZcjeuHae3dp9jJRK552/q
YE6heXgcZgCPmKXMuCPzwcmQCxBoMRyzkjUHmwSgTmdM8n350GnMSYN+9NP2hHqrLQ5qbaajrAUR
xCVcT3t/7bqLXtKBp2s3rmSjqdOEbz+9QodvsQhbG3mFdL3eQ8rtolP/neXuKa8OcNyJ6jx0TR0f
EMdQhCYVI6ZANzQO2y034hyehReZ3yyiDhIDqrkCPk3kSZnLjW4UILoi5swF53vbfSQ6D8uuS+Bt
7bNiwdpXFp5hRDALiiOZKEr20crpMGmDy72+Ujx6jvVo5+MdubUXzMewAD/wqyLNWCAgdDblY7mS
QWy7nPdeJpKvuHYQq5srRUQsQJF0QYvMtiPRAi7UEW/hjzS1ikYoKAuWBDY+iJLKn7HBRKjCyKpY
SCbLjw1z2oI5CVfiibvST5KVhAK6K26v0fKVR5CKeJk6zPfNbTiZdshuE2wTUo1RH7StwfyKNkrD
g08H7xKBhFitB80irT4SPOdWjgoQBWwGryDv6xtpLHCXqTQqhmswRBy4L+xx+M7tUZuvIZ/U8Wtl
2XV2zKCWwxqCRmQcJtKp0KVhkrYPduoV1R4l6hIp0WnlJezZvvggKishFoe7oQ90Om0du0RfNQfU
QehjvFh477bynOHUOLjHMXVoIt8VTrl49AzFzKIIh2XOhu9r2rmpWzRH4H869PQ51Z/9NEmuTKny
B08yUWOeNjboyH03pK3MZwtxutfa+beJ/SYNKa/gkWUFxCd0SmkPPYqfaDBR9ABX77SQoC/HVoHt
4VBHEOlZ0a4yxvo6i8YeSJ4L5eQagL3oL8Nx8O2HRpck1tg1beRF5TS9/SjZ5SFNdwuNwEDcEozE
kXFEd7oY9ReuwMo+FAIQ0nWHFx7SJ+Nw/dyBVZhOGcLs6rJSwOduM9vC05ZkAw88/y3CL9KpGQRg
wTe4rbX6LB1DnAR2FQgSi2NqgkT70pp1uMkiWV+vjikNLxRJfN3I6aNnx7RBBsWSkFn74pyaXIWx
YKTE/O6cmjXxwSD+mXiHFH8mOEC57yj5zYZPva0z3iV3af3/xks1Ws54BE9DeoNN41AP3tfMyj7x
wtBB1c38kMvw/P97q1RfQgrLCbELsqGbqgP+Ku39X7msfNUGWBKzz3bb1PgPQ+EeMaV271Ar3Jfv
viuqtsVeS0pIAWPoJ/8Vlmx1DYoJXwzat7+asBylYVv1LXu+GJukD9HeaPPTqFdgiOi9CQz73Yk1
J2xYqILmjzY2uhtGWBpERc7Z+PRvjFkhxO8L2bf7iJZg992hRW5iTeBelp+U4phBbw6JcGGLRw2S
dpMzhHFta8O/zVACFqmjjuCpmBE4s6zZNS8GLk2fs8vUH+xDjLTiKeVA361GLi2Ko0dWurihkyY8
Mi7v5mPhckQlDYJHo2q969XaVSC4DtoCUzRkCmsjbSHQqGnWcbl3t6vTS5pY5pcfwBMJWpjBZGFt
wTjgQh24zPTJeKpz/5UumJnTH/1f2eL/MmCxnqu2O48DrhoVOy1NYtHDXTHe+KxDy4YqzKNAr8Lk
k3Kx7E9JpyPbrrAy4n9kY0OhctaKNgRF+cMMhmbZf+DdnLbfzWBNT5vmdwH3IW4QsyBp58+uMF7W
bB/ZyAX/zhlW+wZHlHTHe40wuofyhztMNuJmEln7+LtDLEZxcMkwLrz83SUWmmMJ6rh7kug37391
ikUF8TYDoQaLo3raCbmQSfT2YdL0/PGHbyxM8i9kT5wtDWSllUawYx33WyqNK1JzFofNry4yp9SG
A8yzh9EYolemyQyff7jJssjNt4x/8GX/sJRpNCGkUSbNu/phKZt9M3k3rHL3j7aycjKdC31ojqu1
DFBlfJuQyHVa7WWTM4bnoezlabWXCTM9poCvsR0QHYR0PSUar4XQiM9sjaVzTayLtbNd/WZcFz2r
7ATm+7/wnKF28GGN4q7oYNVGCf4Kiwg+k9FCGPCNP5AMkn/A5LE2ZZXXuxD9C3l5dje9RP4EPDki
BHUxpZXSrg5YDbbxJMaLtkwkWlG/ODhm/82DRSl2KkwJsnNa++K7QW0mhcVwMfAMbP22dTs29Q4I
mhOEXqmOP1nV6JihntWxZAOQMt6elT1daeSmPnqtHwdun3ETxQ0Gh5+da2aPOWgrWj+863OefcIA
ukMNMtlgbK2zcMCYkR41CrDgVw9bPmIQxJDF1R5WX5nb+qfO99TXIQexgNUeR+jYeubV7NfjKaTY
Z9z+u60ti4zhEz6LifTA+E+2NqtPiUuzZJru/+Jto0zkIszCaqDC/HuDW5VM/V3lQIdYTW6dBo27
9vRwuk5Sw6U20VFpf3e60W4f+Lm3NcJYJbffnW5FzpbVg7i9+1u7mxsKH1YoJ0wSUGFZGSdIWW5W
5xtuEHNCMJwnLJukUsciU+6DhCfw/JMFriCv6CHX2/L8kw2uN0Ybu7SIB1xrCHmDcEqrj598cLHZ
4wj3WRJ898E14AceCtZiGzm0pMxMYbz/2QzXa8qoIf93BnChohouc0g5xSbN7exgt8w0/2KLK93k
E4ap5gRZTiJJ5sKBgHBDBW482lOYfykb2R5IUQ4XX13JmJhs37vISdJ92bnPoRHmQVvpV7VO5Z/0
tUKN5YinNJ++rFY5UOMkjHXQ40SUE3lrlf5u9cv1tqfOvWNmh7p3ymAyi5hsM4/7DlXTxiOWd1/5
tDY8juGjNMSSi4dBRE3yxRzyz2GJZT3pvegE4qZ+TeOm2c6am160QywvedDKSyYzxt4nEnWnMiQO
zCbgz+ciSk9R3HDLlKDMGwoQFz16We6xxQ0Pq6+OqEzl70wjc3711YWl1S9k/zyZd8LUgb+RazNT
HOGECbBudZ80McXgB1OfjM4q0/d8wfJqIEuW0WwpzTtAg/P7rBqv3IoCuDxGxKq9DV3bfQd0zBKl
j7sy3SgvRg6XznLAtWzMF4CCwmiPVyIkR06biH8clX90/MXQnA1pvesRRZxlAdQssLXYLW9BRrjX
pPwA72jthI2gHuvh59HFTbRI10LvQLC00q9ygRFnV5VtV2ynHr4+rOnxpEclwI1odopzX0yWuZ/K
2XhxelEQ08hzjpm1knFx5GX1cCTXniWDFjM72aW6aQ5b4ELZM3Pf4nHGwlpstVST8aFLTRQPswMf
B9JRKYqjNcGb2vsAoextWXaEfohO+NuqzJbHt4UsiobEkixYoEO+mxm2hBsW4OwjkINHT4SJNfbl
DOjK39W4Z0lJGxw2GxyVbDnKdeMRhXZsHNJ1E4J6GAXGxiyRtm8x/ObDsYqi4imJskawlVk2LBy7
HeBKGD3PTZ1h80jXpYyxLmgUMO/uMK/rG24eVjl93fTjYWI9wi2j9/q9HHo2wl6SsAoiktjod2bf
QiNip4NbTqPxbLYTW8A2UOtaybYhfR0hG5vqXLDhMNG+LMuofl1MhTrij2PahlG0c9YVVhmPQ73o
tSPQs2xpmdT5BI9r3bIBw/oPudFvFMmxBMa5r/w4l4VZFpsLF27dpDnrVg1SWq2OUgjxTU26/e4z
bcg38zBBim2EwZM5rms63y05q6oWvU8gEMvCuV42e+O65dNQSMywuXrfDQrLYR1YpKH91K9LQrHs
Cx2jyPdZNOMqB5fFPtHNNQtX1bJlTJeFY7usHm0jxvGkqxnJD8+Vok5cd5aa0hbfjm+TOcp2DobZ
NQY8XlSaGPOT6xOyGajvK1KVttlJX1enMc07WhjaJm8/rktWkQgPmn2FBHXnrYtYY13Klo1hG1/+
Nwv8D7NAJG//PAu8LrvsLX3L5dtfdX6L0vv7INAyf2G4Jgyucx+GArK83waBpveL6droeOAkoLRz
bIaHPyaB1i/UEej8cKzjaPBs1IG/6fxQnNs+syz+wx+z2bP+yyTQWmaUf5wE6gQ94ZggRspDPqz/
STlOqqXtxwvps5i9huXIUJWAELqMZBI5hFUU1JnDbAF1e4aHdszB3CFsJux5QgZMFdjEMjolnon7
H86a/dIrZ5pRX/V5u5FtqaZLFs7YxgdnySyzQpxTPfMvCFWTmD6jWTayqxm2LXQ8Pve7ZqPyvg7z
tIRiZ+buK7CXBWTbgGY5pokXHSr3su70Kb+rJ1UbnyImQPLKrAr3/Z8JeTltGSylWz8S01Vn39rq
PceBhp/ss3AIWreS8bMTTfZ+AKTXc3ltARlUAA9Wjt6E8GbwUtKffC/7+A7U4z7ATpd25cN3ql5e
2013IzDnk9cQW2MYIBAjhoIsil7ft7miBapTABxBXCZOH+ATxSVNI5yxJvIW7p5L/XhuCDkcpOUs
ujrlfyZ7OSTuSUv0b7KCtbMrUIPMXzNGDvIirjtCtrb/P48vFm501XBw9FvfDO39Suab+agXo8pg
O/jg+eq2Ky+AMZzs5EFb1GQAgyABTbvvxL7aRMsSzGblEB2DHonwG+mTbfUzvU95bTceQz0u24tf
EX55bQxnh8lIQoDSwvHDga7KVxh5aicHyc68L8guLPJcnYqqAFO1gEYiVrPM2SYhtwyp7PmumSIF
vNlDxRDakoQV3ZkXjSG79MNAkr0IAAcV4a4oI5tmhUjg7gQ5GB2TaaeXpmjI5tSQQL5Hw8CO00d/
AVqk0gZWtnwH7M4H8TpUihj0uLDNBceUw2/0EqZqQSnwEMNfMXj+GfhHCWYwz7C2Rinb57yHFrgh
LxQBkD32EKlxCY+k1kTts24WQH6nhtDw8+DoRLAkloTKMBrgUjbA4Inlw3fvXYqxVjq9jO0/1GPb
fiWiuWm3YC61b1Pp5YepMvXHqeFK2fGz1dXWoEmu0YomiHkaI6ryoJo09r2y8s2vepKw/OrKib1z
QqIRg70ZOcJGgrgDPOWPeDIk2p8eJNg0oHZrp4caIiux2cwPWSzNnfsNAwmKN3gZHsHbNBLJNRdu
+D7mIz4Pd5INl2QCimNbYKp6n3B/M8oydGgq5DV679RAiDVCOQIqx84JL821u/Ik4Rcws529Krqs
LCd1jnwLRXNyrSGeT6ZosethkPNJuTDaGaj+MC3MVnMRl/nZpC54J0v/wi1L54W84ByBPjNZ72ky
rDTed6ylq63em1jaZQl2f2uO+Sr0iiAxSbPujOuhm638MORmQ5CVISllzVD6H6bvVNVemtaAwJkf
JYNWZ4b6kWh+3V9mmRHOR4nI493O+IHuItRs0caJKza5sZXbwBHsBkXi0DmoXUJnRM4lKdloKY3I
AiBuKb78kAPDXCAaEOllUdfIlwVUcrbkfWRThMYh6EynhwHl8FqSyJ2AbMgYPX7oU6SbqB6k3CPd
km/Q+/T3wSprUpJ7ejDids38VhmrKtKaoysfLVyDM98YiRadyf/YViBgsIiUcGlQWC/WEYForwKg
AR/1xHk8fiXCm0oGsRjluidGUCO2Xi3Tb+yuX+bV66JW30u5emDmxQ4DzA9nzJQyxNjbTo5jBuwt
ukdTdeYbKgHeJcAv4ZsLakk7jk6E6yaPBQoJdCIn2fPOBMpEK+cSrEpLjpqcGKcodEgyWf08/ert
SVafT+PpzAbBI1Y+GKDFC8RjarxHKKa+6atXaFh9Q+PqIYpXPxFdO4JpaIYuHvMqfafiQsHgrD4k
Xjs8SQPEUO8a6R/vhRoH965fHUyxZPdte/6Irynt9HKTLXYnvWvS7on6UlfX6ApY1o+LOYolFBno
dsF7tYtgzNLZJBpKHMVcnDkLhzqu56KBr21WzyU9w8ZgqXsalP/h4RBCghrnxRenrQbYiKVRPkCS
wkLsO9OHRT98TcjnvKi8pH0fr3EhvIHGQesptfEOxrF24+KBfR7cEN4gFAP8z8TqtOIaGxdCE8sk
fcmG6cPrWQ4j4TPSpiqm3ydrwFyzTOw112RGK0jweoH4FErgEn0ysf1/omzIAIstsSgxppNasPJY
AlOaNTyF8wFERr+Gqvyv/vwP9SdL43+uPy+Ht8+QMLUbck/TvylB+cs/SlBcJmLxhGBNXarJn0pQ
gbkDh6L9vTblT36UoC42FFwfuCfpqxe4+O8lqGX8gtUQSh//BwyRvu38lxIUN8mfSlCIXZ7FjGEJ
0cWO7P7JasLrllsMOlk9dUQ/bWZw+SfNM8o3Iyn8ryxhieRKPEkKQT+EeEcmurSzF0tUFi0sJuOi
ZjYWHUtrltWB5BPEbxCRUfZUIXzinZPm3ZvsHLZ6hhlGkDui0oCg4RfoakRBJO9+gNOHSJc1pYx3
BgJx+I1OKe7sui/5Z6U/FAfXaKxNQ0W4VaYRXvoMLK7Ju3cuc2IMEEI5uN1QVxr1aS5jRcBbHEFm
0/vOYMka6aBnDGOaAwCaidpWFnvgwOr66ZnrBi2M3RjzgRhGDzVWLTCbMZ7ZIffo2o2uuAEDukj/
jjV0XRzzzpHDGU5Or19DUZTNMYVFaDBvYankp9NFzmyPe3/WlS32nlmQ6lHYWXFfkH6T4Oqzy28s
VQmMAZD9rCmfYt4bYN6qkvpW4EtKrm0ZO3mQzoVnHOjky2+RqA1jU5i2aZwqzCAIoDuhYerRPByd
xH2IzRR3BZwUg94+uSBlKJs5dIb5AnemKU647dt3GYuCPJUyFPrd2FqRDLgBfWL+EN10G4bfBF5q
vnELOIfRjZQCcMwAPepOsG18JNjkK7PPyg2kVN2zVuRADPWuSgJBLZWMk/tmzlY3oMCRQCOTkkRS
si6p1N2afMeT0cX8DlGM9uNRM+W8VU4afhpyEHgnkASE4FG2eNmltOXO6DJADGxrnaR4LXqKfTFc
OHVuI24irS/2N0jC1H3v4AFhUreJffnY+wwc7CZoM+MKo6tz7N3+W8iHHEviqZgVQYlrrPaIEPHC
Ib3t1p4RZtr4RXJmpis9vKndBENQBdZUm19Und1I3VYHq88evWEkbaqzQ9aPFJa+Ja41+1xH4IVG
2yo/h0V6EWoYRI0kXkSVAjhXCsLbhSBoXpAsdSb32Q9PYQ1nGn8sn+tn/rio7beW5PO8CesloFX0
ZXIYvTI7d+yK8BiU0zCR8dfJYjxWKCSAIs+O88o8vfCC2kBMfd1JJ3nX126uXjs7hOnT52Ht96q1
96OKow9kAyuu1dodmmunOKxd47Q0kOjMLfhlmgEBtGL4C85/7TeLtfekjaEOb9aeFIYe/WmGGta9
8tisa5TgKT0snl1SvtIl8Kuq4gHJB3ts/aGoQ9PZ44wFvJJQDPDUzq1gA5LXCDLjJU0s4YAKkpIg
+CCyPTChWJp4XDsWHojIFBzHmNVBF3gtArYDwDb7bIMgv6GfIcms+T/2zqw5buTMon/F4edBB/Yl
YuwH1E4Wizsp6gVBccG+JpYEfv0cQGq11Ivstidi5sH2U4tSsRYUMvN+955bRlihhwxH7y6d2jhf
15T7YVdfWtDUJuOnamprckNJAR1pxHgR1qJxKB68RKc9K/I+9HSD76vWvh/Vq3xqN6D5bsRQnrlD
cmdkzsGagSqWmx0HqeyZg7N/LY5ubt7MaJWOUwjUTkyR06mcY1yRhyGhpDZU0WlgwO2TXFaZ8cB9
Nl7RurIVnYSnzUi8kd3GLWnd8pvumpm+3/IuMxrmhmevBusZg7/o580+yauuQh/uVkpQn89UFoqI
bioZgGLvSJBVG2S8zVCAYsmIHRt2tGVWwZQ6V19qWV85OB/xPMojMUKAr15znPLgLQreEOUSv2/d
HcL+WUgoZOAa7wGtWgFDjtQ6qRDEfQpz3kTcXdQcXzR9XIfWu+KEp7rS/Bz/Hs6KTYVxIa9UbnP8
1iB7mUEwfNJrJebpiOTkOvEloLwzNsu3g3dtNa9tH4MXtdmv4V991K2WXkQZ8hWA7cmZv2XuF17q
bXlTKeyMjXwdRYO9M2sItcirbhdAx+GNZ3yVAfEF8tbsAjbjOGma57KqsG1L5zbzTE7f08e6SU1f
V+qjRvnagpzJugZ3Xy83vQAoE+vmagBojBQRw9WRxNYtvVUqLPHVVQy8PQvA6uEGfOrw728bkDxr
x4pw5RbV2lIK/Sa3tfJ9LHBZ8k3L8peMLMWqQcWfFPL62bgtXFL0DJ2NLvpoAgLqm3Ht9M7GoY+3
ikBF0yr7mWSjQRGC392/GXNMqFHKO5RtuRBtEEZdsvhNTbygYfjt5geF/D199GfazLkJ2+4sGdPH
EsVliPQPg1JfgnmLNqXREkcR/U3Y61zO2XQqenfa1GN+Nw03AJTXrdk8ueZlFytrXTR7y5bU2lPv
l+HyNuecTon2cGsYlfuB8T93TkTS6dHL3e0MyhHecM49k5kEY59Q4qMscqwo+vUMz2mVdoDYZB2w
e3p8lpxSiSisPavnmoku2Yi4h8H5RF0fzowHw87Om6lFXVKZNbftSRbtbpxSUOKWdZ/lOPR7x2AC
iS50WXJzxI178vKAC5EhNGNukO7ZCm/A9YTpiObKuYO2TQ89IVEiTDs3qY2t3swdU43Vyk9DbhXn
aGysWlH8YA6Nz4GGi76KGVWL3G8j5x1/xI7DbbZKOLz4kUnFiDqQNL/TDeYyw9svWB8KPID84EcB
ENWAqsP3Yu+twjxGZnzRlFByABKvM8UazjRb5IgR0+3C/+ncZ9bc/uhmlrYrBzd5sNuQql0g9WLT
YHp9tA03MGYslXbfNV3/WA3QsBB4sCFnfbeZnOCjHZCQJfAELk6glnR6C93Ta+aQf2tmExHOME0/
soLDG0s0SDs1OpAG0p6AHW1YdM1r4aFwTTSZIrKV9FEZeavXHbtcElxwCBAQC3IhEMrARnqEotud
Q6P4RV0wZTrX4c3FTwPF1GiXNB10WyETfRcr3XCTWqKZ0DXdANOWp0Vvo0E5mQe6+GossuRoEnI8
FsJm7NIOB3fQyqPeIn959EKRAgydbYeyu6d4LzvnCORcxWoM2ECpeyKlZr2RVMPsI0ca1wmwwPsw
0JOKiB5afxmV/WVbV/WFjLXZ3Jga1+MYhURZx+YibOMrTRT6URCNusEoc8eKIRH4lMBn3e93S99V
molt5VhEVcdKjs+tSt7KT7GyPNR16NwqU9md95yDD4BkEr+IZXCulU6JRGS0WzMF8IbB3NKeZeFF
k/9fTmjRIUmsZoUPkblqjaISXXet7gFOgKROZo75JlKARkcahavomyqrQfaQqkXkst0Wm5jjqbOp
ycKhNXWRjtpQqKPKwJNSG9LC+oRXvpb61p16Du2JIaI7hDdUxqzgIHqkq85K1+SU+/AuZf1L9zGb
8vYEaTdxVmYz0YU7eIUz+gG3GfWo98DP/f8cNf/EURMb8h8fNY8x0ntV/s4hk3/25ZCp4V3WVZII
oLg5G3LE+4wzAHRj2B7nSFtlZuFisPvmjPm5oIo/VT1Hsx2P2cTXMYf1kwFwx/OIC8wmZfdPjTm8
35wxLU6sfCktWCIcYMhffm94biOXwaM2YGNNM/xfuTu42mpOySDLLzwUoeGI3LOBUG/shZhCDqih
AFILjeLSnFU2E3Z9so7gmrzmswrXz3oc0fBZmtNz753ROoKdPWt3pR7rgh2Ji6SXjuAgV11kIvWF
A7eeg7NIgNiekY9yLW/qrY7c09EpMUuG3iIf9ouUODoJGJEiZJC71eoAudGmAILwVFGX4YYqluk1
aKJQ3SeLUCkKiltWM9+1WCnaLGZqi7BJQMJ71xa5kwFCS/dz65jFTiGAodHzy2OuAtWepVKZUFeu
1iTb/DxwZ5cnQRjwALPK2lVejeJaYxX6MCxCLN2pEUw6A3nWzVIcNMki2xqLhBvkgl2XtUi7aW9W
4lAtkm+xyL/DSODKHz29OnSLQKzXBZN9ioJZks2koYs8F+Sg7WQOXTOnn16LRXC2FvE500qsqhQe
Bq/tIk9ri1TtLLJ1MSvYeSjJkIlF2HY5bN9Os9o95JIYe7GI4Eo4C+LWIo4LCbTbZ+jPPkMNSrqW
lQotnUkHf0y7CRJ7UOEwXlltHFO4nOOgWslFkredWLvDaVzuulmxr5HfgePPOj4xd+/WXcR9u2vd
8/yz5L/I/yrgZ0gKHtgJv+4aRV6mg8WON58nB8kyRLDmeUKwjBbKZcygzxMHsQwfgmUQEeKohwqz
DCgEsNJ63QkNcw1ZPaMlgk8VIsFtZhv2MuZITREMQGlplk+WQUgomYlAFgiRcLUeWvs8M9FrOAgH
jouMUuLBq4LNgKfNYVQyj1tSw6suctrcQDcABGRgyJt7XWaKTRmVRTcBrm/LG/bqUs8kpRDhjmnd
QC3mUtLUk2lljEgngkuyZ4P2FBno4FAlkqwgs6MMfbzGAgkEVc9t6zaK0N45U03K+WDhIluHdRLp
H41cNCoypD3V2QUXOSVrOuYg5oREIYusyDfAMW/yqT+FFTGoQBgmvMlmutGMhjmlrW1c4YWcbESC
jkteucPHsBf0xvQrixbxpQ+KUH52aVr4vMtBAi5qXgd2H0eN1hAiYncMJrFx541wL0wbBblM3slU
F5uUXlwsWCMEwERda1qrbNW8g8Ytw2fo4x45BHZFJrZPtm/urUE6dkvAwudgrJxnYboz6rh5TKui
pxgXN4Hr0+sQb6RLd1JImslTQ/tJqmGGS5zq1TCnLcBTFRi+hgK6Pco/4ObauIr14JVhd4Wz+hTk
7OxL+Afj0Of7mn4tbC3yTQ2Uji5k62QOgpkk7ufq3TNprhop4FX8pmLaF8dWcDYatjv3g0FIqcwq
Ww9DpJ26fKSlLmvCJy22S2J2SUlAvCOqjQZzxEKHpcsLYvV5TMpnGpcxs2joV7eF6ACvujmEU4KN
56OtPCW2PQeg+hA3fe6gfYQhEzfHuUkovh59ar/w/veoJpGZvqk2LYCh1qqvSh2n53GXyCu1Vmls
tkcCo0KnQkXJuOJiT544NMiNW4O3rbhf7xwv5xvJ2ASxYqLb7hZyC1/ttPVOhVRAlkj9JsT2MVXp
PZ54vLJzkRZw6WETTmy5XNMhXR65HygbvDCk5q5k4qBHlPptNokNN0FIv51N0ZlbPdBt05LnFmkA
IBm5fEjLY6GGW95C2kugjUcEcCY94wxQjR9yp34oW0CUOu9bahSn3OF2w6VpOZzHA8e8sEVAyezs
W2WPSyv65J2YkDuvDLsAh9MHv1IDupk0I9y65BxVb0K2oojuDAuNvtbH5iZ02tsmHYrV0uhluDkh
GkS71TRPbuw0rXfYSLdDOH7wLJ0yYs1qzupsgFjfsbWvixuZZ9s0L2hZrbVor3URxx2TsuECTpAM
PL93gme+XWcseXeOaw50wU1MPAeOkYZlYk2uy6eoAx4cyisQQ9vO0w6ViK7F5G1hFtMjYAwa7TE4
qSOtP48SbyfCeWao8dLNdAjXqaGmZ407bpMckm8vg4vaYGZsJ0huBYfuSMe6Y5ihvpahONB7kl8k
xCYPU0jnNkG6D4qmmfuimMprPW9e5x6yptGHGyY4nF5beXQ941pJxQAzLjeOimaazMT0ey1kiNMb
xl5nmkK7gpXte2l1WyjE+nWeM1o3IpDcpXsmcjnuapfuFTAD7dlU6c16qLlh1t10oFvyEGEFayw+
9rp3X6Xp1udUxD2FnO78pGsGSMPdZU8H372j8iVxFeGggOj1O+np4J50APYKaMvnMtD2LJHnAb47
zY/AAXAwl5Rvi92ohsaeaNdLhF21qYxNoIyIaggd0WWHvow/I+W8zqCfkFB6QbJXT3yOmIcpa97d
iScST6p7a4mRusLKmIvA99Hn3rRMPLaxcypyiHNTRX7AolyYWV17ntDhd8ixZ1HdRIwc0vOJj3ug
RkLN+aPO2facOgFlJJm2/lyy1si8+5iS+oeItON4uZ3jAReVjpVflfaW7ZLlOzjbJp7IXmHbtMk1
Vz+Fv65g08mBbuaKlbelh83uOP/n+dRg3w3pKeCckyj2yPmJQjZv0IR+bAi1BlNxBWmflrH49XM3
Gzn94QYE141Rcx/jfrTn+lDXRKNh9OqeuoYnih+XZ4r4KcRG8jZsgqwTJ9CR1aYbTAMPpiyqvSpC
uPTg8MYL+ufInUKkPUo4Hys9GNkkck3rZti/WJmMob9M5tM0UXnh0EOy4XWs+eCY0nmfNLUq535h
Gt/SICTIoJETPrZNka/kUKzLcTrgXT5X4mzLO/+yVMFh4U23eFNAuIfJWRHbcg2++3FQ9PsZ/7sT
dJ9s+XF/KALZbBVQqbtmbonrM+1oOJRWa8bRKErmzpcBHt4N3VrdVZc9tQbN0EXYrQOaoTYy4XvZ
ToevPXKpJzihybMZfdcUN15s7vQCurtwioOnDBu8A+tWNgYjArg8s7o3MgNm9PSxjxi2pK5RoTGJ
S8GOW4OD5BsA0lh1ouwTsBYqcoLG3pFi8rihvLbWfcMlAmwpEi/qoO7CaiRq16ybTLt1y+kYSeoM
SwXjQz03fgKIcRvXPCa6rn2ur5PwHDiBMkUSYcX2MDqv0PTAYhvjlZdMzzwnGoI6QtclBF/nnS35
phZ8hSt7DZh/m6F9uRXNREMdttsqN6hmqFt7JR3cuYHl54VDt4bRdrulBm+pjRtF+GIz2uVeel0g
UM21eIYixVyGQSywP3e18FNDEMsnsHDMqvSJHOZl1vc3XVLeT53lD2bwzGDnGAzWK/aEUwlR1w/K
Ed3Eex2UKwg73ZkkZ3jlDhToSXk9lv1KacpxLbN2h8mVVrGJDqiA0/VVCqCEs8B4NaKz5H16XjOy
8HtTHBWPsvueTfbSvIfsvE9r8tdL+x5fDOiSk81epjLih9hC9nWENzKi1tXzIQooE6Iy8vFzDZ/S
OtW2qiT1KZOBFTcl8vihzdXZ9KsAKbcYYflWY7lr7PD9bkitYtMHXrLHv95SLyO3TOvPneAMt1dA
n7CHVBVqHwMaeIxp0yYKDT7T5ZhFuGNyZNir0q1XqZD4qkDCDcLZQtd/cL7v9Ys0Nt5zSzjNa9dj
3vpGNF5GfUrYNeWCjaadkmXxNUcbOBTNxzR8DoR5Nu9T+xBQkDIPyMfwYBTJq9W+50O1UozBBoFz
N1kZaRrbV2R57Qb9pWPiYaGwAu1JPR+x+kP7UGW+hzG9cwfK6VqOhxZSjUW5VBLhq610H2wHTlnQ
HwEGVVtPVwxFmWcpDPffe9iVc1vWALcNydgXeHTqcF9xS3ATJEp6BwNP3gaeSuXG1UT7YDqfGXvt
wiralTdkwImhT+XNk+W1iMEpzWtdDIfcF/Ak/La+bdhgDZjQLFZ0xEdf5zYM1mw1dvCo+1XmMCVi
WS/ZRkLq9KdS6+FGyX2n6VtHEyfqai9194JblZ/08XmqHxLj1R7LpeZQdtV0IayHIMKrXlOyGuUz
j/sisXiLXIWh6MC8y1DuAhukhrwE+3PP4KtgJzSNn7poIohFnY5iVyvBods7SCjebN/5PODTqqPY
Uk+CFb6nJgtqqd8vxYm5XdUPCZB2DNnq5/JE7qdPBr/UC5PXKg/3jfikmhr08zvbsAmlzLvpajS2
InbhETX5NnJyWCohNZwwhW4ty0jL+8hKeG9lniK2tkEFBkAv6sxmt5iTmkCcpJ+1dYdml2kdnB8H
1opCoRh0J6km5iZnREtOAQ32bSI9aWxk5tKLZSQmh3ejSG35AaonvRNGQvLKr9Wx1o5pasiPQBBj
hyfb8sUe7QK0dQzFp1/XogO7EhcDe82xmoHwThgzcAaGG2ygvTPi0ZregalC1kHlxRf0zRg44Jjz
UsiLGTJhTI3/UY+vtcaainORhQH0W8ImxRrDXrtF7OBTL4u2/gCOG7Xb5HqnSiiwOJGP8/HYzLhq
7Mp17/WyyLn8x8qip0GP9L218GWrdmbN/kfC+xMSHsLaH0t4p5lcoDy+ifZ3VDz+5RdsgfsTBx99
zjVYLvQeB33vi4yn/2Tr2I6xg7CTmUHX38h45k+2qdMkzzkb+Q/3xlcRj9J6djwYTGBTz3xs+08Z
RWZL9PdeZaCn/J/fo+KL5D++F/Emb6wyakNQwTJNVzaihCW/brO8vE5gl92AAY2IIfbIWswycnkd
Ii5cDm4sL+tC8a7UWEHDLqu6vsRsNrUMY4GBbgehwx2M1Xq6nuxKMpmhOs0vBwdnJ5hJ7RFtg7RV
Gdg3aWx5D6jY0Fq4Aa51GQU5AKdSey+aXmPmCipuDfRS4dtlaITlRe23SmKeIcuw/tqx9Vy5Ebjh
UfY7hCfWIEy86aEwVWsLv374kGH25HBlyhuokYjlcFfik6Ux9C0oIgtXNnnBS6P2AKcCAr8itpWd
hW4fXwyZ0glYwXMLdxC47zbotCdtoKld0bt+eGbZsl+nztGfuqbqrzrGr4HfCIeRLki27l2v8okc
g0PWzi97CzdM3Q/Ywzgbs0cI+kI+Q0rTvPOUbtl7AvTehwjnDpkSdoWcxmhO/EC9jjFuU3pdgUbZ
UVPM2p6zhppWejuZQ8M9daZB39uYkSvxZIyLwo3tCtDEWE6fjBYKOzd2C6JgXsUMt2NBbGYbFIYo
OUYM4WteJAZDTMJM7J3CFo8iyRVxolURgDX1I2GwiUOZdbelZTnRuc4ohzsg3NYD6Ds4zaaRyUtk
j5IFbQY5QyzTaWoZYkYM8cJ6FgO9Qb67MKBrkBPNtlzY0DVKZrEhpKJyVbBn6bBU1nazrRaudB6p
MKYJnufalQjUzoSsuHCooVcNJOtDqmVru7aS19CuevU+oJ8OV3s486zTiXasXb9wrl13BmYarKq0
e8uZhR2F88gsVGmUXIkmLDgz04I87Wu1GdgaLExtd8ZrdxVOGR+N0anPXaKPxTE2gHHHM5Y7pcgC
ryz+VDTHhdzdzBDvoU7MYJtOevSYeHpED7haw9ChuhaKW8wenVEPxad+B1T8Nha9e88/5s4etTiH
GClT7gdmyF7pyypQzQtCEEu2LdG8TEzLisG2kNWDotJ5JZkXFVgbrC8izWtmO8u6IzlCjpspAjmw
05e1ycZAHPsjNUjBRqXHN1qVy1pWG3l5ZPYaqNDK9RAgnqTziaDWvApS1MaKqNql/Dgq2IyOhKVY
M+Nl/STnxlpqLuvquKyx6rLeqk09vHXlpIuDroHU4mlgR0WHtCrOmizZXDus3tWyksPpocyMVKS9
gRDHWg+rgXU/XvYA9rIfyMRYnOw6dOtdbVUlbZ5antPuJkfC7zoL9OGbDua4K4H9Mp3XJuuKe0Jx
imqHpnWXQi4z04OPYTJCmIcLo1B5CQruTgUK9I6/tLwvLDPoG8zUfUTuIJybmqux7Z+Mgbn0uqMf
UDtowB1eh8xr+AX4zp7CEDKzme48oyGC5H4s8CD43BPulIijkEZPSky33CEn5/mijPWlpRuHvv8U
ZNmttKqjXkV00vV7pU12wLtOShMBWXr0jA+6m20RXs7y3jvCKfu2CJr7B51MkVB3say3DB6qfWYp
5zWQMsiIa8UV10WLzmii428dvd5UY0FRUNKdstzlVYKFImDY9A3EMfSQ1Vgzb0CDfdRlwj+HbQhy
7iVnxooe+uPyaLvD3a1O6aOggBXatGpvIi3E02FhTNipQtwFYKt5T79WSXO3gLmcI3maa0UHeLqq
dd30cRMnkKRHKzl2S7W0WjbS9UsDf/wl201auFQOj4bDWJjO0ruKQ3coxK4TlLwQ9T9QL01uW3Pu
nCbY/FI+7QiXbj3XfhjaIqf5TtUGv1VpoTYU8XFATDwkXp5fLW3U+HBuugyomGQCv0L8t2+Qby+j
0D3WJjHeoex8kQTFuVVXGzcJKKv0pHqRWWAEf7ewWjMiqhRK+0gG293YSSwvPOGIVdo5CA1Lf7VF
rAdwn+7BHOTt9loMbb2Vug/d3Esm2FfsTFc//LrWuoqN6QFuY4SQ1j5A18h3BK6Hu9+ruI77FHho
aojCFzPCLxk4EsLJNWCUmtNxabzuLcXcyl41D4oXOY+FC+oTezTuTe9MN0pKqU2yEEy0tSYYbxrq
qFtduQmM9u0f12JHMR+chbRyxDXvrGzKHrKQWlEs7kdoi2Lb2GO0ATkwHPkM9R0ZGRW4J7ozBAFW
c8uc9sYsm2luc0gNWmtFXRvrKO67a2HjSsGYg6pAdXZRAkW2QkqS2IzRCEuzaFq16RMYswvHkhsm
fNfTXKNdpbV7j6so3n2t0Y7j9L2ZHABlNGkPEV7P0rxGHr3myyHOcPCT5q5ryrTn1koUp7TbRQLS
eBNF6MzeCUZgeGHNGQdUinzcExE9Whyo+j476RYH3GSynbWrtN7DCMUKW8iVUadn40iueCIcSiU5
joDSPk0Je5Z0lCjlhqE1Ozlp6haGQ79O1TRYAXoZ9kqgNPdgi/eRUdE2QiPWL93cnInX9mTjm4D1
1LDcQlAZKYxI7IxO5qZ9QMRJt0tZdyjd8MnU35a+7jRvFBRameKXJSJ6FYjcxrIZIwg76hXFI7TH
AiPwJfCRANzoNkWJusRRw7c5FzTApx0iAlDbgyJ65bo1UvPjUutNCKwCnBtEOcZMQy1WTIgPX/u9
G60oT1h6yScHrjix3DM6Ze3wniAlq9ss6ow/qPh2W00/l10bPMghRojOKX9ODCe66LuWPY8Q+lsV
qlTAO2LPffaJDg3lMeVLU/th15l7QQZ0g7XDWrvAdzETN1O4WfrBC2lSQoori2rXHGWh57+sMr3F
YTjtG0sVa096l3bpPivmjMRJ2KUA7mH+E1xm5ozNCUId1lNjx7G9zhaoDk3OAHbcIa0ZS5JfInui
DESSqpnB03tGed9NsoabpNtQCaFMgulRk1T9MDRJEV9PM8fHWpA+ldfqydrBt5GfQaui6buwxzo5
j2ZclW8sJKBmoQI5GbcErin70XOaDJyuMzJZj1w0gZWCE5gM98CG5SKAT5Wyv3caQhuR/jLgDE59
Y0EQsZ+pDzqFU/1qbDvlk1xIRfFCLerjutI3DVqf5U8L08ia8UYMpgCmOzP0iHFhjt3KjVjnN3CJ
qhs8rMGe8GaTgeybeUldoOa3Q1szdq2YPiGRLIQlzOoNSM2FvBSU00xhilE/9sNCZ6I3FBBazzA5
PVQDaSY/DaWHNvgZ7CQKwRZ0AT5FC/xJJ+Zo+iMmK7mjL1uwLUemVMlC5+NL6KY2ZsnMg8yuSVnt
zK7geigTPBG7DiR56FcLdwoZEgbVnz9iX8QvTSnK9/a/5/qpl7IaGxAQ7VI28ct/3ZWUEOc//Ct/
+EDfPa74+/IglI3NzU3f/cdmOR1fd2/NePMmuozn8KURa/6rv/kpj/S5tWz+6VVJ0cBd+a/9pR8/
0F/e/sSp/dcZj+V5LS/pRw+TPbdx272+/e2vCjliZ6780I0lE8wp/K9/yWCNf/m5oc4/1k3NIsCB
PvDNG/RHb8GPX93P7/SP3srvnvpL2RXt/AnRCF58qz5gF1qe0q8e6bcv/leP8P2LB4mIYjE3oXzz
qnXrJ1xFmql7RFr+T17182seI4eJtolffkdzcX9dSfbnP3f7J021dZtxxZwF//XnzmWBFOM4qoWI
8v/yHeA6/U6v+tPvgGH8pKIv8tmDxpz/xyv99hpQf7K56lWYmv/8O/BPfD2+3kZWUZy9LjeQ+E18
cxf6h3/h5y/Ybx/gyxdnRorO347v/uJcdff5oX+5v/z9u8ts+XJ/88Ofv+zL7/nyz7+8wN/+6u9+
18+v6uc/3MdvzXPzAppyubV9eZqn55w70LZ5e/vLbfvcvn335TZBh/38B/Pv/ttfv3uu33z4P3rw
zbNo35riL6vn6ruH55qHq+rw7f7l9f5rv+HiH3Ec/vhm/vXy/dEr+Gdyev/mr1jE3R+8S1z//+67
9GML6P/G8/+ROP1vPv6PGx7/zQefNfU/fu9d7nI/fu9/7wv5dZn+7df05+X39/7Z9/eg+W+8ZG/P
zd//BwAA//8=</cx:binary>
              </cx:geoCache>
            </cx:geography>
          </cx:layoutPr>
        </cx:series>
      </cx:plotAreaRegion>
    </cx:plotArea>
  </cx:chart>
  <cx:spPr>
    <a:noFill/>
  </cx:spPr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'User_Profile (1).csv'!$A$2:$A$4</cx:f>
        <cx:nf>'User_Profile (1).csv'!$A$1</cx:nf>
        <cx:lvl ptCount="3" name="Province">
          <cx:pt idx="0">Gauteng</cx:pt>
          <cx:pt idx="1">Western Cape</cx:pt>
          <cx:pt idx="2">Kwazulu Natal</cx:pt>
        </cx:lvl>
      </cx:strDim>
      <cx:numDim type="colorVal">
        <cx:f>'User_Profile (1).csv'!$B$2:$B$4</cx:f>
        <cx:nf>'User_Profile (1).csv'!$B$1</cx:nf>
        <cx:lvl ptCount="3" formatCode="General" name="Total_Subscribers">
          <cx:pt idx="0">1704</cx:pt>
          <cx:pt idx="1">791</cx:pt>
          <cx:pt idx="2">481</cx:pt>
        </cx:lvl>
      </cx:numDim>
    </cx:data>
  </cx:chartData>
  <cx:chart>
    <cx:title pos="t" align="ctr" overlay="0">
      <cx:tx>
        <cx:txData>
          <cx:v/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GB" sz="1400" b="1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Aptos Narrow" panose="02110004020202020204"/>
          </a:endParaRPr>
        </a:p>
      </cx:txPr>
    </cx:title>
    <cx:plotArea>
      <cx:plotAreaRegion>
        <cx:series layoutId="regionMap" uniqueId="{934F9710-23CD-4720-A2B7-506C569DC9CB}">
          <cx:dataPt idx="0">
            <cx:spPr>
              <a:solidFill>
                <a:srgbClr val="E97132">
                  <a:lumMod val="75000"/>
                </a:srgbClr>
              </a:solidFill>
            </cx:spPr>
          </cx:dataPt>
          <cx:dataPt idx="1">
            <cx:spPr>
              <a:solidFill>
                <a:srgbClr val="E97132"/>
              </a:solidFill>
            </cx:spPr>
          </cx:dataPt>
          <cx:dataPt idx="2">
            <cx:spPr>
              <a:solidFill>
                <a:srgbClr val="E97132">
                  <a:lumMod val="60000"/>
                  <a:lumOff val="40000"/>
                </a:srgbClr>
              </a:solidFill>
            </cx:spPr>
          </cx:dataPt>
          <cx:dataId val="0"/>
          <cx:layoutPr>
            <cx:geography cultureLanguage="en-GB" cultureRegion="ZA" attribution="Powered by Bing">
              <cx:geoCache provider="{E9337A44-BEBE-4D9F-B70C-5C5E7DAFC167}">
                <cx:binary>1Jpnk982lq+/ikqvlzYCAQJb66lakP/YOSi+YbVbLRAMAAGC8dPf03IYyzPje6f2xa1VuSx1M4E4
6Xeew/96Xv7zuX15Cm+WrrXDfz4vP72tYuz/88cfh+fqpXsafujMc3CD+xp/eHbdj+7rV/P88uOX
8DQbq38kCKc/PldPIb4sb//2X3A3/eIu3fNTNM7ejS9hvX8ZxjYOf3Hsnx568/SlM7YwQwzmOeKf
3h6exvhi9ds3LzaauD6u/ctPb7876e2bH/98q3947JsWVhbHL3BtQvgPGHHCCcHo2x/89k3rrP71
OBE/YMKyDLHst4deP3Vw4a8r+Y83D26M1Zv//gorfPrtlH+2rm+revryJbwMA7zXt7//5W2+eyU4
6/Htm2c32vi6kxo29ae33z/WDC7/5XjuXl/r839/24cfvzfF3/7rT7+AnfnTb/5grT9v4//t0D8Y
68PLEF+CfZM/9S9/tTP/psUo/QH8jaGMCPntD1jmjxZDP3DMCMr4nyz2x+X8T832V/f6k+0+5P8b
bPeX3vXHYPvuxH872MQPUnIKxiHf24z9gESGUyLT3xzllyj73sv/9Tr+eXB9f/V3K/9fEUAX89M2
tuOb66f41P62Mf8st/ybEQRJLSOZEITKf5bzKHo9TFKIot8e+os1YD2fYT3Jt/X8T0PoL2/2pxi6
vvz/EkP/Ojf+XlIKMM3uWy36Q3r866O/5dU/XfpXJe0Xxz99+ektFCkiRAZh8nuZe73Prxf/Yqbd
0z/m3e+vfYEzfnoLdiaIcIhIDjUuFYK+fTNDzv7pLSE/cA7RKBHGhKKUy7dvrAuxei2Y8gcpJJOS
kEwiRjK4anitgXCMpj9AGRUsoxJTlqWE/C4Hbl27amd/35pff35jx+7WGRuHn97CLd++6X8573W9
jKeSpZRLLhhNIdUjBsefn+5Bc8Dp+D/8yKfeNzFRjdR4N/V4UI0I8oREOZTKcY3veb1gNddDW+Z8
rf2nzSUuNzyW19prm2ckGff1YqerfhYht7xrC7qV9ralyxRVlfCw5Q3HARe00ltWBE1Te7Wl2+cS
ZcN+yCpJ807Oa97TxjAVJrSeSrtUR0HtcmstYq1aBG/1bptjdV+JpL1lVJSvvx1HrCqq45pzVoti
0JO9b8ZR7oa+LoumWYTKGtneTXJZPgq/lu9iSLhWfR8oU2sv4fpJ1HY5jEnVDyqtZ1jCuJAF77tm
HPQ9nZbR7bvRUXtdVT52KnajgnLJqRp1SIRK9UZ4MbhpHlW/8MQoU6/brOyc6TPfnLyRa99natVb
eRyXqrpZ5Tbks2sXr7qwTY9ziIzuCWo4z6uyFnTX9sxsitQa1qQTTWZVt2Y9goKUsUiGALdrqLSp
ciNHmaobCY/N1tmJXZ10ocoXNMdWyShlsk9CGs8NeJjPU+TlTdM6/HPV8O4u8XTeVMOncstXUa1W
8dWuIW+MkF6tIaH5UJLtC5pkchUcusg80lzVaVov+ZQsW6lkSWTIubQ2qJhU5fXoqi1vp/FAI0WP
xOv+hrBFFJJgbdTg0vmclnQheUPSQZWWzw9VaBuQX17mJktDjraku9DrVsJrcHAv+P9skEK+q4zC
bVprFXpT41z363zb1GtXOJG8aO/mLE+cKQ9dSOZi2IZwP/SirNXSdO1haLK0VS1e5T1rBHtf+Tkq
y91y2DrjHhaJ5U3pE3GpaZeeRiQsy2usJ+VtU923XNf+MFYZfoxmyS7F1g5dzkL3YoesNQplUdeq
J228N9UkP7vOpTmTVdMrFxm7xp7hQ+aoUCJd9bnB1J1caHBdrFW2VGo1clRjqsei8xBNaqn5dJWm
41PnWKqM2+gtE/2sUosyswc9z/bDzKeXkU5JlmeaNFrpcZ2Vn3s/qG1t5qMJ7d0KFWrf1psvsiZh
Rc83dN9YkoK1SIq+tvDvR7KY+MBMHXLTkeYhEXPDFMb24AhPlEud/OqpbS/03DYfxbQMHxb7Gn9y
zm6WhekiraO4H0kZc8S0Gc+uD+tDMqXdHSLjmN6gQYepWJMUEzWRrPtqy3n4ErY5/NxUfbP3oZf9
Xsw4O5r11co6cCv2VeeT3KdbfMcjYUdk9XoreZueK7Z2ARa22nPVUXjzJsXTYUjqqtqvVlYQOpjh
J9Ywb1RYadwvg+6LLPLygsSxVnPIypNGbrwIXmcPLerE+xEFiO6tX9Ynn7GxVdNahn0X2lM7ptOB
L0mpGGXg+PP0iJYkuyeDJZdVNLckrOGK26jvo23oHZ6nrGBD0l/1lZtuBigQENek7hXly/LOZAuc
k2F6JDz1ELB+OtTIjHuBs+y21rK9mHjKjmPF+Z61EI9jpiGAZuwucTmetpUwxUYzXhqemcuyHe2t
aYMo+thVL0Mnykq1bAhb4Zt6vo9LTQ6yqcpxP7e28UfaNLP5FGzE24WYh/aqBCkTD/NcQ8Q1NYXL
e0HKA1k6OirI2XQsXMWT5oMTqQwHNHdYn0ZOKlvYRWb+YCfd1165NtQoH7u1+Tym7darMsydzU2f
gbPU1E0aNj6cCWvztJmafEL9e1kNUqHRCoXaIa+b9DJqrJgeqFop/tK7/oDGYboce3RskScFi6gt
sqns6KFzizmsUe7xnObUu65U2chpr0h1sdTD1ejkXO+1wNewYKm8F7oYuqrJM+rJxdaehdEFM92t
hODbZzXkn9GpbhzeN3ZU5TDu/BxU4mrVyfpWj/LeyuVTgsSYW/QOD81Ot5e06T90nVPT0H8S47CL
1Q1p7NMoF2lyZGapIE43JUyrMNu3vnuMa19dIA7pZJ5oPtL3YeOXiUCvpeSeLR1S5djvWiqd0n4j
yrewX55erC6VilfveJco27EH2UxrbgnKZ/I+ivWgR1+EMsFqZFGRefCqme66Ru60tqceDbuGX3Gx
HQx1X7dg9lsrRa1MH+KVb1BQM7qcU6IWBl4PNXe1JWSkye3jIh4mkhyCJMUmMqgOUAiEVcyHXQzz
nmRVHjPx0JW0uS6D1DlvR0UFy8PcWIWHkqkOrkFT/dU516pssYWuIK/b2Hxe+3alajDcg3Hi2hy5
lcl1g9n0EVJo2I/VDBGTZmqZk3eTWXYTiBFlJlKpoXeqGcgT6qfD0vlcRn5H45yP0/i1ntm5WfAH
7LerrMGnCRmscBxRHjK6A4/Kh1BSVSbkjqb9FxRZPlRRGVpDbK10Pjs37RdWZQfIpFTNnYQcvRG7
qMxUeKdLo1wzVnnb8ZeN1dOBYKlGSLO0HIspG67aze9KncbHxYdDvUCUsfm8hc6odlo+dWiecrFQ
qEDpuqo12/Yyo0bxxpwrXJVQfO1FFhJUYI/4YV27uBPItbt2bsSDS9tdHfSYDz67W7Hcm96cGxNu
u3543/bdXdmZT4iNVsU1eVpi+y5SoxVnyRGEV3OytOyUnThSib9NFwfagff+NCTU7pKSFzZbG8WM
CwftCWi8ch7zNYHkwJPpa6nHk178Vbq+JtetmVTq03lXrv340PYx1/xa6Ge6zmfQIJWiHaR7Xx6J
Q6niS73f/HaxBDB5k57FQmDPmTjOAcSM6Lt2Z1BytTQ+701T1GS5I+tDDSKF4It6lqcpzmcyIhXj
GHfJpLXC07SjQ6a26XkimOdIly/e63wQNu+aZ9w2eRWrM9fPTMwPOule5cvRruamgbybBnGg3dKD
Q33emj5nc8S56+Oj5tXNMK7FGodnH7dLUNVnzYdig4DQYdZ52La8rCHuW7+oqWR3tvZfCJnuPOpV
TbKrgcQDeOFx7pJDx5ef6RhUNYorHcHHiT5kSwnmmQ+Tbncoyy446z93w40ln/g0Fo1n14gOzxN2
aw6+eE3r7ZAYdzLNrQY1BGL+MhOrUFgSCFVUkLY5Ts2wj6D+tjHZ11244a5MlW4zAj7XXJaTyX3Q
DWyVaPK48hsoAQ8Epbd8rD85w256Ql/cfDPEG55tQ5HSc9fFw7Calzot7/hSPvatPvSTvZhH4kCL
yQs29F7hSsbd+ipWl3p+0XjgirfJAVJY4avhNKzoI3X4cuh5pmhz3/lwmjb0cwjhcXJbIftRqyz7
OibrC1+3cCrHsili3fVFOYVd35RXCBJu38/HWnb7ztLD2PWXwkCeW6a6oKk/deYhcT4n9Nlw/fPq
q91SOsV4f5dM59Bm+4ku1zJ9WqAjUZM9W5QYcCAMFoc7zwj8d1xUaqC0eiut6nTE+4zqvWYZOFl0
VeGGZi6CS/tdNNt+S+eQD6i6NCuZPhKxnXgG3YSm/U3NuqMuEbjFlDhFiX2kry5ru3PoO1UFuZcs
7ubwnkxQW7YyapUiU1DOz9iMJ6N9UY52v01eERJvxDwXCwUV0LNj1mbvJ9545dfsfd0OxWDCAbBm
9kWYLfmUDWmW5ZqlLFOCofqZV7xMc8Cva5vzYD0tAjJLmc9l5+58Vs0+L9ss6LyuxvHCDdo8sibZ
iqaGhxxL3QgoQtT0j0M/1FyVa2D+gscGHKhLt+TKcSKubWbDCZOYXJalWZ+D8dmpd+7VqMMsDwPC
8JZNu+xTkB9QP4S0egcCr7pdQ9eAdo5JcLmPbf1zJVpyx7axPzhmYXOGstWValy5fQQ51AzQ06Ub
zsuQ2l6JqSJaOSns9ezKi0mg+d06N831bMv0EATmXvU1h8wCnR7cxk/d1O5EU87vs3Y2BZlJONcj
S0BAZtlWxKE1L5IJUB5O71i1YthnV4edw57/bOSgr4hZBFOu39hDMtTsKClsTcXjlMOryathGJl5
qOu6PaVzEme1ZGNvjjOe6ApN4zb1O8abKqgtEaBgkUYEakkm49cKU+52FVS7j1xWboZUyTqtuqy0
ZW7IluCrJizh49xWTaWEqOrmduZDQo41ckEeJrthiN1uWKGJXdMedNtct7mvq7RLwVtqrnOUzRGi
2qB+++jsjJ+cEFvMV+KZv0nnJgvFzAOrDqkUCZzIOf2aNWn30tqqblXTbrbZ8yzpzzQzaZ1TNjOr
sn5NEkWl3hpl1qG+6cbXJzfcsX5nM0+uQOfNXa5n4t6vcw9NGIIlLvk8NjQ9zBWnUHvHoO/WbtSg
SKXjuZCuMbuyrCH41slOFrzQteZ2Sje0xzVnlQLPGHTuxMohrW0yS/Km6kRzQMsCKmGVpXwRXbd+
mOnUvczMrdDy4Cx81NwnviAkAU6xlaDvWJXu7RLwkJd9EOiKYkhcOTXQzR62pYSsRvkG3RlAFnkE
4LOBrgvJ0H8g7TzB0qdgNsgEPU6U7ztGdjxu3CoB5QMrV2lzXrBo7gwvkc0ZC7BqMfflTcNscEpo
itEhqexocw3taKdgR/S08xCyFny2y8TXiazw/AElyVQYaPCSz24V9XhKcdm/lt+y3dTATUn3ldcl
0Byddl0RsjjTa8w1+dx2A1/yyvRtpWo8gAYLuJTQZ9GlS3MhLMTRpI384tcUhKqmPkUqzIuv1NIR
CKC0qSDpjE3L669p4tc5bwE/SGj/e/4k4JW60yT0+DUyKUg+eY9ogTMDwb1A0kc5pP/kjKatiaDO
0qz7uOpxue0AeM1q9jVLlCFkHAqvu7Ep1qGzO+z60R4WM/J9RbKpGJeN4yOaW3kLoYie6x6Hp1Gk
25SXnvQLwI0s+zCAV0Woq966mzHq6UqniTgMrE5qVZYjBdVZtutuHrE7DZHhRyen1OfcDHQHO9hd
Z3XZzjmSbi0yuqJJ/YEU/hPmRmHc9QfkJjDAOykhlVMGLajMUvE9css02zaEoBSXLQZ13NHVoUtd
iwwCVzZrB5HU1lle91Udr9sGQu6Y8W7Sj74sWVN0VqfhkncIjNLQoXocnITWK8F+IfsFnLMYJAaX
NTRZkIJwwzbvvYMwqmpo5XaVHXYIyyQ7bKvT7XvpkU+OFGEoNmATL6H/6Wezj5HIWzDdVt0lWwQ/
/bYNvwLdX/fhFxb57Po1GF39Op38/ce/PboO/vs2IPv7L1+Hm3//6eq3qehfnnV4ca9gdvjzSa+r
+f1esJhfV/fKc7/74R/48r8gyPffhqz/4uD/G14mKcNg8X/Nlvfh5eXNQ3yKv0/0Xkntr5f9gpUB
EEMzSIHmIpRSmbK/Y+X0B0rEK8JGacqz7BUd/46V+Q9cAnEWQnBAyFTCMn7HyjDSE+CWMiMAgnEm
s38HK2NgFd85OeOMcA63ItDkAYpFKeDtP3LldoN+qU2gaZMhBRlApzU7yVdtUM00ucz0HE5pqOT1
WAJYNDJ7lRMgzPwF4OCGq7mZ+kdSExAf9Tch0i4NKmY6mEfzqlM6ATwn77/Jlzms7m74JmpW1wVa
iG9iZ6UogczG6uZZ4xF0p/gmjQZb6c8ZjDa/sLE8CFLnFeuvfQeiuOWdGtIFeiqQXIm4FuYZe389
1dX7DdImQ26H2AsFocYpzwmoEBgA/Ry24JURCOgrhKXx52p7z1uXAMKii4rOXlsq9zPDMZcyPW7y
GTjIvjQ4KYa5z3E/psekS6QSIBEX6LB7Dyi39HYPlOawsfHKhXHKo/BdPuDMqjmz1yCc1Sr1yURo
FA2/2yA+cZUqTPwFYJwh7yOwZzrE0zbYA6Y+x44CenPQb04E+ObOTH1VntgweQ2ZFzWFYA0QlzSV
O2GxeRpoJfZsGURhOyjz9wnqSvPCRVKfeACzTLhHctdIeuv7Kw2GOFsJmi67iBPAAKGj6pB+HEfQ
u4usctuO0BjrCOMCU+/KOJK8bc20S+TnEIabZBJPCSLAwlzbRsAg5EZDhwwYCsQ6HsgXoFRH0Q+3
GdwLFN5uWMIBqEmzn5BuToTj/pwCIVc+SrzHjNW7ukEXgwgz0Nrptk7wJWmWsF/htkFpA2QObdBX
zd1ni+X71IW93QI0q/5dD5PxXYq37AoD10AeeoyxXI+jG29MwsZ8jM3TOLhnm3Xl7Vrq264bPmWC
PZS9PAg0XMcGHcgGvTnqHrqlhptS3MGuapmPCINzJ+mFGb/iPqkezLQ9mJi8ShH60s/4YerGo8BW
1SV/7kQ2qiwODvCvPGRB5NkQLmsvTpMH7rSM59IE6BwAo0sNnLqF9Sa6O7q6PIHantQA0AA4G5gm
ke8ZtzdLw88ALUAPl1N5P9SLgaowXQLpOc79GBXfwLQ9KdGZbetl3ayFn8c5l1N3Z/v53bAMAKGX
p6xnXAG8uCQd+4hWecr8mN2yOIkc5MMnHHiqJhj4kMQWA8rOa/OCZFuESD+TcQX+E8v4ThJ3BLJ1
JGt7ZP0KskBcDHxPdBNvvQRnNJHuho28F128NJTtpR+AJQqYrMBQa9eV6MQreoqS3dq62oWkBbgl
rpzoPyZI7+1af6pW+SDSDpDc8KGrxI7S9LrR/nOVrO8ITRSLyU0sm8tKVxemjcd1NGrr3G1Jr/AG
EwPoIr42y+hh3NUMChqBz2ToC9uX4tPmLS0aA9KTWZvcbfCZToraj/1mZ9D54SazpQWStliITxwL
IvmBVOE40nkPQu0lbSw/sQ7d4KrdZRu5maNVQHlPHdHFXA0XkZnzqKvdvE4nGBuCkCf8MvCYm8Sc
TBhg+92ndJwmJZfyqycn02a92pYamhx9vRIYidTXtUk+pclw6yi/zLr1OuiK7xFFRZ/edoD4Jeq5
ioICBPc/49Rfsc7fytLflAHBcIWSfINxDK19XqNNKAqSf+VSxXa8MJA5fcmKri8/TTIUoJ8UAhis
ELmqtuk9naqCt1NhjdsH+7QZK88ghd8ns7+balmAKnxKYDYSzbxLFn+d4Acb7M8VXYq6fvK9PYq1
L/z0PuuWp7UBtUSAhDYhUXIE7UTL9su2DeSxdOXPrf5csjVva7sz7XaWCT1Li77gGoV84vrYSnLq
k5g3CQxXQn+L0gao4niPp+ShneztUKfFkNmrMaOQOO1dTKt8XOZDaeVtk932SzyznhXOeOhXYU/Q
cIMAh8bM+11MThUr32XZeFfT9pgyBosElYYOJQmHQeg9jHgUzsq0AOPc8gq+56k+aBg02JjCHGIb
P9Tzcijx7JUuIcJfsQjr91Mnzgt0SrjLinltD1Laz1GUdxq+U5IJQCUC1LDDdgXxG2l5GFfNwPFY
EXt7hWPcl9TBZC+w5GLtELsf1irZscGcWg4YabQXyOgW4t1dNAuMc0dy34YbmC2dsgoGVhwaVArB
vyQ7JPEVBxJeTu1tQtmneZn3nMsvDZ4PQwnwBXq2pCi5gLuRz7zCfd4v7pG3VVGPyzmW21kk08fV
NQVMeu6pr/YO+G3f1FdIpLCprJAWn01rHTDhQDm0FOUu6fiHUs9nVn7ZMBfQTDZ2H3ED0Mzu+vUj
ghaxSu0djN4uke0eyxLGY832Ga3sIMYu53UDQMzfVwmU3LV5itOcM+7yyUAzzPgxUJqnG+BsNlFV
d/y4DeXB4H7PymUHUVKqDV1ANwh9AiRwPbR3ZRogCJHZrzN4OUXxAviSUamr0IWu1mOCryMrYVjQ
XGSApZOGXW6hvGARWlSpb9vw4MECDrJQV1cf/BiWvF7GI6N2j0d/mp2GdbGH2gqRjwbvm63ZbVic
jIHptRNXYqg+z+UMQB7vjQMgWmOxKyHCXFg6FYC24S45TjR5mBb2CfInVel4Cwjoc921kGokAt9a
XsX9i++rBcBtmut6/VTJcVCVD0e3uN3ANtAXKUw3zboHDsDsI2lxkWY+FsLgcLFBg5L3aDnwUZ6w
/DK1fZFgyQqfkXee00OM4cKmoG1iS45sQmLft/N6b0tyi2akzMIPXsI1Y4XAgOWuWn2uM0hF6wq7
ixTLDllZQc0UW32O3n0sbaPwEk+Q746uBSVDomyBAOjcJs1ZbGY/DnOB40Oz6T0n6NQ1NSSh6yQm
ReZQAchEcweCCv4p2p3v4SGehmtqQCguJ0BbiqCDG6HFhSm12gKA2fUxAiZGg1HUWSCxwymJIk+T
WZWmSS8mWx3JsqqAbldoXHH6kgE6tK7ax2GjBxSyT5k8Q10ubNoA0aenNcW9smRRFQJf7tY+FDXj
MJDwRh+jdGeK3We6DjBTqfoWcMaMKhhtzI3qIozbAdpU9cUyz7mNHlTcxxL8MEtfC8NOdM/DKxBa
HmO1XQJUE4CxRG62Gr7kQHtv+bZfJ53CyCzRkA8dKOIDr7vhAgt3uVRoB0KikFmr4mA+yA4yQ99e
wQC46BlMj+Y+xnzoyuodYBpamNhkH8JSj7dCz3kv77uWrVe6nPxFxhNe9JtZjnionqmsvmxT+wG+
ijiitr4Ay6l2k/a9kODVMCk0dNk1MGZcdiipHS6gmQjzyaxySQvU+rorNIzyIceIxOKi2yoy751D
LRguS29EFTx8YYAHPxbBCkdyYjioGTMPeOenpm8PqENDUjShZgAz42oOBATk69PcmCm/wZcQyi8L
fklFk7K9B3KGHkw2LDBWJJV5EbIezXlekBPF5Kzc8hjncsnNXE5T3gRtAvQUGwwxjhyh6GBKt/Fw
YbIMP3DPGQP1vJopp5gnG3wR0sNOA5YJSDnMZ67S0AOSbeDTlb4wybZ0jwgvkKHGFfCEatYNP62Z
rZJrPa94Kbzf8KFxMPBVXYPofdrZHl73/7BzZt1x61iW/kPNXACIgXglGYMiQrNlSX7Bsi2bBElw
nsBf3zt0M/PezM7qWvVez7YiSAYInLP3tw8Nltsg6/xvsi5hOpuwPrYbbI0RXeFlrmR4E3BRfFuZ
qk+QHernRaOkr/AJN2PfYYu42sb1hlJeeO127bq2e8otqkyy2YPha3lV9OVrL4p+36mwuQfTFt5U
va13sq2C52wVzXvAa3tXkRaiHBMBPU1N3ZwXWelDIWy7X7qMPUBq4+8ZLKNDyHJ0OHBI1ieqa3x9
k7sFAowNUBnqej7UzJU3UHvzVGzgcHhgNvAQbGz3eQVHJlj58FHoLnoMc9cfUSnhjempgrwsGnUa
2NYcGBTXQzbjloZCK6jkC4sumpjsONEuGpJqxH0HfIpS4EQcHR2AgkfnhXkOxVafGg37GYgTgBU7
L/rrDLvoMBrnUyiZehcuBJfF14WkU9kPO96z5jypHDfgtqJ5pqWiaDUyfXBuEecVBf3zFOHRCtcE
SVTC+Clc7ndUoneUemrOHdDwcwYl+1LqvjljCTTnAZd+CHnk4Kx40AAd/D4JM/HSOd3c1643X/sS
H2ACwFel02xKGNdjkst2fUCp5yCwzs0zBPoKmlff3sPt1tC21RDArsWybubV/QZ/DmGvJ1oc8aqY
56q/9kMM1k8xBs2vjur1aZzUfJjn68XCvDhYseCstniCXY0fUc+LvesC43ZCVCyR2OceSEWaG+lX
cWayWtIQayoGZgaxT2/z+oCSYf5ZtlO7L6O1+LbV1u8MCs9Lny/mGQfK8pPp4ndGQNtk0TIfFh+t
h7nkMmmFpju51t1NTuc8i6ewyn9mWxWYVz+09mUSFf64wIZ6UBrbXh2FQ5NaO0G1NWU/3g/UF3jH
0SxBecxrmZ87WBvT80yMwWuASynRHq0DTEwQ/JBS9fVbqKfutKCC/QhqfGBSDEou+6lfKvgjSgBd
4CPFlTHfbD+GyLZFsk6D1bH310PL5W3xwztwf3eSaadRW8JmLc3W1jdEDxBxZU+Z34drmL1h1S9+
j7YwA+NShtFbIXj2Uq+c6rOe6/W7m0PUSe28YE/hwkHYdmqqFIiF1bM4a+T4exgUREA2+MrEE4z8
B4gB7L3HL/Kx4QVYvudVB0ma5vl7a0z0G5s922XdgGJgyZ29bUJXnbDjs4eG5+I0cLreV5Ounwvt
5ymGKSmwf2YzOWgs/Lulq+bbopn0vadLcw4HDhYDQkeTrsBW9mwaVxW31sEzBbmE8pItDXA5F4no
UuVUHItitHk8FSFWQ7VEKb6+v2AzN990Ua4PPtP6a4sPSHTdNM9KTE3abPhhBcT3w8Da+uS8rn6V
Fc+/K0L012Ba16d6ojhInNjUo7Ws/VXTut33DC8zHU3xwwUrfeWVU2iInchFTPDqXLoi8I8Zg/sT
E4/GZR/J0Y8p90F7TwgUk9iaTT8sBV/u4R2E975Qy6N0tgczArXL7WeQbU8rl6hPixKbt51WGuyy
qMOqgF4mC9ixWYjdEpxRTbM4IINvgdsMY38XCLW5WBVseQGCWeI2yyxXN0Ohhq2OTaSzOiXzsjT7
YRWLv7Oaz0FCVgZH30Zh0DTXtpSEMV4gtOthTfhLp3uIKTpYR7j6uAC2KySDZSDCsVsT3fkZwJBW
+a8tyssp2ZyAfzRPAfexJVF+zifBb7Ngo0OsohyVxdUVqeE4SLsmai2LN8PYkIB4XWRSg1fblzLn
32VWZSk1C8wbOLR46JAE/c+K2XHfwFmsPxGpL3AHs3evcnBVhVvTcG3ts3BL/jD5GRbtBntV3lZR
O654ThOeXW41Nfd1L4OvaurDMQkmgWN1Xa+WYFb75lsjC1x6NYL+OnK3TUscVsC4+uFqzm0Qrm7L
ZoOo1pr+SzbCxeNrIJ6nzWmBJoZlQBsE/L4K9b/8NAHRAGW7HCiPiAi88KtXaD9tQ3p1EMOSophE
Hf4VXcxSYXcaUcFW3dzAePs0IZutEgfPJziTEVleFh2ccYA3d+rTwIRGiisH+gRJcfzD5MwG8tZ/
Wp/cc9ig/OqI6nFlj74kxY/t0zBdP81TcfVRi09LlTcB7NVwNss+Ir6I5QD39S9i9H+wL65AcPMJ
Fv8BDANH5joUmnMoz9CQ/x0YdtkCSMTLuGQzHpvYlx6mt/Be/a9B8F+nK/7uHXwq/QRa+X9tD/xr
4uJPbJ1d/+zv1Hn0N0LCMFSRJJQoDkb879Q5lX/jkqI7B2sbKfx0//QGGEJYiiFmdlXrI/y8f3oD
XAJHV1pg1yQqZNeP+4cD8i82DxJp/2H9UEHw9f+yhGAeR/AoIiaIBvt+vfC/egPcDiLCacNiK6lj
aUYgfQhW4cCKuRqnd4ad08dzAK72kodkAwsUdquC4ZsBNrkL6SY5DLCpg8PZ9lAvQo69GW50lW93
IJOn6HHpYEfjbd3GzDyVnPfzpS7QVexC0ur+uDlZHEocqtmJwSADKE3rKdepxQY2P4OQvW6mvsZB
n6gAUm6ajZ0fvlcwQhagNNDoaJSuJsge62nY1lTo3stvZCjHVicad50dygKcgIi3zvj1Hm/SCk1g
q7mZgX24cnxZFLw1iHpcr8ka+a26dw2OvENZd1HxDHlJlE/Mbq37MQSDehRwhsmjmCSPTrLphus+
2ag6ZXR1897NcPiO1dzP0ZfJq0YMqZ0jKC4ozerqB1CWtjiOkV42nrLRNO6mkHbWt3Mz9iwN500p
fxtixRRgIJwKiYhXWDjZHY26KbIJbq/x72LUwYaOqBvbX2GU6w4t49wM9nuVN2WX6s0tXYOdisIT
xo5QD+xY5h0tH1uaQzrNhbLDnZVBBFhAtktw49qwiH6DmRynI51wnP/yKJwhhKwIAsB/HmaYRSyt
SERxkFRyrFFJ5f1q8zUdIV1txyLDT/J7JZUUqQUAEexNA6djSDqH/Qv2CwX3cV8vPIxk4sNCStzg
bALw1hEu1uJB2MpM1//fVwMKHDgkd7NGt/cWTHq0YQKWYFrNDVopOnzjK1jGt43la/e1G5emeVBd
vYMh3R02WFMhdOkzYMHya9aW40226CVGv/zGvWw/aFOiewzm+Y1EQJFBBuafC/cxL8G+c7lmKagP
6DquywIUdFm24kGsawUguFHha5hxM713rKyWs2D9CD8qtGhABvByBcyj9trMqGmuASgPlXZfqrWp
C7BuRbMv5m17NAEaKPyowRwHOYE3rAJYlSka9SoeRInLWakts0TbQr53JqTFjRa216DoNPD7u3It
IXgsgTaZSbJIBn1K0LRJyDMt92CRvbXkYAO2bj8kwITR7MRaCnZXFrrZ7ivWluxVmWh6LyvPdh0P
7JQ0owfH2+hq3uMNM+/4r+xQtBMY3pGzrkw6hEy6W13lvTwRCh8kIaSfx6eg3VBjxPmYswp6T1Pi
xR3LhgdvdvbDfK219fIR8UFHNwTArDgGEKLsbefbhv3uCSmbPQ0ma04S+EGxy4mfJtQ1IVK29z3A
0vG4BYN74hC9r6xcZyiWXleGyQbEJeHT0JMdmRX8Qq5mV6JvD9AIz3kH3bMMW5QpE7aOu9bgnaFK
Wh5vGg81XmAtrqkuy+io6k2oveYq2PHGdTLRamxA60aNSJieqi7pp6C4lJ4AM6TlUIZns41uO44U
RTnk4gZ8CGmziO1QTrs3eEfLAHBUl+cg7OeHxrsAYRw4qFMsgN0McRWK+m1ibvtlGi7PVAJcmSe7
fDQsmndZs8gn+CRvG+T0JzMgOnRjcdM0Bjwe7Bc2lAdXBnJnyDazZO2wf+JCEIHZFNo91Vl62CD4
7GCL4MpcMAzvq16liK0L7M/MLMFrzefsHtIDTUs52B3QX/+ECqY6tATqYWcmf6lZ5b5khVseB8D0
7GTU8FsSOfZQ32q+74KtfW833byg7I58QkbKAMjQqo3RWYRx4CMFddOqZeeiEf0jKJ8oFkDUf5Mx
VG+qQkuK5ozDS/Gr3AH6L6rTJHuVGItYCJfLuh02A/YrdxUMFdaw8jLOTuXpzGCO5IAndnIxUbmj
BEVaXA/h+mvq55exl6ikFQreN0jp3RfsAKyHPhiYfudcAFEjivhHVM36zg48g+daZ2lYM39b9YP5
tuT5Ri9VMy67ear6OY7YUtyrrlCPeMzrjXS6/Da0E83Rf0XTfo5wU3GdEd6nWZ3BFlkJPJu6o7Q9
tkz2r6g2gby3K5PdQc2cP1VBBMcHxuYbYiRgY+YoOBBD+ReZD/07uoRpTyOkDpZV2aeWh8Ouq1Zy
nFVwQj4IbiFwN1LCr1m4Xsy9H4ISsoGnSdg6AM1LL/x5lNhsw3Y8WjYiuERM3x0nEKonyCbipaf2
B4e/c6JrdilzLWhcLWL8StuWY9UTfqv4dF/6qPrSbtuWejqDfOy3PF2bZoSAby4jYimJmMb+EVnK
5qy3aykQtsy9WzOoE0No5WkZPAhS9Ir3xJR5ysoge9d27g/gqa5slQh+Vxsj1+6nQNSjDRr+CK2v
K29a36wwwvEUkmGds31ACnuptul3Zot7rexN3XXm3VD2oJZyeOZdF+wK2/NX+PY1qLH2TlXjbU+7
6abIWxvAEnDktylnqPR9fub9QBLa8fxrAMc7HrMhXWvkjXQ2o1wYhlOnAwLzfMbGEnICLHLtgbrr
bTFfVt2IPU6+DxYaSItSNT5u3YRwR9Gc26XeI4RVdOk8VKK9aVlfVjH07jme7HhfA204o8iJjthQ
9QU6Fahkl4mvKIMC+a1r+jn7WCVgcgQx6u6prEiIHEjVAc+1QY3WszDja2GbMDz1Y7N+EVEzuHQO
kFVAsibr9QjiFMXa0WUoSp7oRhb1Xmk6g+l0sk3hQPmjLaY6XUZJ0qClv9tsgs+ATc79KnHk30WT
fAU6UbwjwYbtuek2BMKISyYzZN05bGd7NDD4U7D8YA0B52N/mQoW14p0t9UalPB4oDcCpwQX7Nfy
4lofveHNCDxSNqE44OInBiSvyvYNSs2vazXb4KZqr7v2RDMlkwkA7rhXvfc/QQpPLtazbcZ7zk13
yPq2+wlLl+0a2/tko0v1bTawV5KRyBkeGPTGuEe+cw91aNhdKcydaRF/K4oo2/FImYTnTZYGXQXz
rqfcXcxocT1ZMQJF2C7CQCrdu7auL96INda1v2aw5qZNZABJMaDLvDNlEDD4grC3Yj5gP43lki37
dWPTbpjD5RIa5DBbu7Y8Buy9fEBAqZ/r0tbvUSnKN49c1ttq8vFp1aIBsKy2DhiFj16B8Y3HeYbT
hsjjx+YUOXZFX6VZQaJbcGQOtO8y7BWibx9uYYCwS06OeQk1u9OA2xlEo3vEN6HbymJCGHOwT/PC
awQrAro3i3MvTETbSTBBX3PVvlSWVCiRI/gvxTb/YqJrk7VSvyB6lYdZQ1RDTDaI2xz02lzOTygT
Bhymlruk67RI5NBFD6w2+U2xqey2R4Li6oRkOGuJQY8//LIVwD/4aaNOBefdU49fMzwNg3TpME3u
lYcuSJuaVIe5qfIfCyrJY+6ja7aE0fJlEHV14IAR76BW8W9LU1dfhsLxNUYnslZxgBTYYVwBxaeq
9jkYWmhAFS1KGE5qFCX8mlIg6Eh0jdpsvZqQBftdWzHdVBvqi3hYidotyrFr5lJBChIlgiisXKpp
x9pF3rTlhqIB1jhqhoDB8gldX+xqF0GL6TKkfU5AeIs2McjCHobRsBfYi6XG4mxHpCKzycSrYfwt
YL34LaSvfrBuWoBcjagW4e5/86yGDeoG0yQIb0FeGYe6/Q7KzJ1oDQdMbmZaEw+/ZJeFBpZ80Hfw
hSCf5oCFtwwl3fBQsYXfzQ5QDiXIG7nKjU8Kkei7Eeg3/KPaC8QQGghB3Fh4mGzqthixNXuSbAOQ
U5EeKzHsVa3SdSym8rYrIGdPrRsSui6qTPpgDuIoB7WQclZVqVFwu0C5K3LbYG1Xae0ZBGnlEbdG
UjREJ4gVu9xBnSy/rNtCTBr43LTnVRTqmHdR+NQFxB+7puTFCSKiMuko+PCytAStx1KsNPEDdCBk
72jO4iGHkPc6Df62Z3VjYhqUVY5Cm+RHn9fhDiWMeAjNHBy6jMufgi2Q4JBqhVGGbfiG+7K4rG7L
fijk8wZEDzOmdmXTwGHmwoNw9xKbVmnhZFkIdyVok6rfzqIRtovBvc2IB03le1CA1jCVhG61DngV
G9SNca4E+c2j0e0kgOmbALvcawap68dcULtrxmJ+Q3C4vp849qdPz4GF0mGrGvPgftqmDPQJ1O+k
ZU311YRFD0YsND7pO5/f8VJPu7xQYleIvIlQPITkzoalutMNX74DlRY730n+c24a2yR1IYiJq8L0
9xU2xZvedPwSQQr9UkOiAieVoZxu+YjA3NqO7VPb6qtJWVVnT0byTZbZsKsBP90QBLVbiGib+eDt
2KXUmeU5CvvlcasnkMveD0t3aHKkvokY4Y1J+1OTNftaIlOBsFKY345QIpq4dwYZ2y4cniivt+MM
mbZAc6+KS2ej6AS8ajm0gefxQmpx6hCQ86kg/DWn1MBhnf2zN0HxS45g2r0OJ3g1WIoTGc1PgUBQ
PIohv5NuLZ8oNkUcPBZ6o0a39JgzXWGBrcP3Rrf60Rpi9mzVw07C1xeSTBcghxnoLFHSOMLtJ3Vd
dVdiyXwbx87dsrZHw71M9gJJHud4kJf+TmAVB0jDVrAQsIEgsAZT0onwmzDGnSW49EsRIszfhc3z
sKFoiVdKm70OCyv32L8RGeoKiLFLZeyJZlOV0MkKKJ1LX33l27CESbbhgFZ11aTKoSfE/u3oo87Y
8Fp3apCJbPyCAn7KSp5Qk234i0XqxwxGe4uDtt2Q8qlzNNdQT1BUY94OovpEHkdUTYikMcF1qvp1
/t4hTfM2rcPy0gK4EgkEReDzWUejr7TeOEIVxapvxkm0+uy3zkL5bICxHsHAqXjRDtY652W37gl6
vOGAUvmjGpC9NWRYHuaaiyWeu+g3iYr5fbAVGc7rFk3FfUMF9KQIhT5iORWItKIvfwyiX9cvxQz0
rFqZreOyW7JXbbw8DrAcnyF8mEMHgiFIFpYRcROKrlSIAmT+uKw9UtrECRskjoTapSzzchcViPGd
AsEbcJudXi6A/Emx26DAleAXw3CvDfxY23TiQ2akO0DwL5ZdlaMaTxSqqWRRBiZ2UJFfcvMQQRrC
dojcwjAd6FyWe7Sn27LDGqf8ppXLPIJyYP4CYQfeFZxhENg4LqukFrD/Y4+5PzHSGN3L2nMbgUGq
oXrprImVs+7nNFJYPTnGNkxKPlszzWk/LcFPMjhkynwIKWAL1+e8sPyCAjVMoU+pBAEBchcUtnik
CIjAegV6EvW1uoWBsD4rJKLvcKdoxAJXvkts9UPaZgg194MDdsspQqM+CvIdRiEgHYPBDRniLYBJ
N6jKtx0YEBVryIwmaQpr96Lpiyfk2vLEDnWlAZDwawJ2rqsHjF4oB1idjSBgNw2UwZI6ZEs3sobq
NG05ou99pWfobt3oqzPUDsSqS8vyIrHrJKYYBUQQPvft0GQPgWkn9G1YWQsym6zMufx1NRPqH7B4
CgjfokdiKR0jzCKIe9ltzVcbYfs4TmWZF1McGfi8b6OYIpgTcydNcGBuziedtujbswMg/1I8DGjG
+Y1RBYIRxbygkRn1os05Z7PfkPi0+NZ8FOoi1jb6vRRjob+tERK1CNGM2Jx2zRBKWP3GqQd0Drx4
KfUigdD6wg43vIkKxOinxkS3Bn2teRQmNM0eEdFpudkWbJX7bSzxrTZz4qNGr9wh4lsUV0iBAVsI
a1fMCVXobFdEqXimUy+YoTujFP59DqFCPeauaKtjAZxu2uG7R0SENlih2TSPZ74gH79fHI6Zp25R
87a3JXMGIZ1uFLfzEI3buS9Lz4+iNGF+hD7k1LlqOAXesSJYu8XbtFHzFEQCXz4EJIjSCDeaHaAU
Ao7MNCjXBx+MzgMaKnN/QJSCBPsyBxd2HAcWBA+FbbU7bKhf4Or7AeCp5qs0l4qsSFH0aKPIC7R0
iW23LqYQ5Ra8PUTC0CU+6G3F927jBqH2/wzKRx1ZlYkxO81fgmVDkLng3zWwt9NADCgRnyMIlWJ8
SnNR1KwbrN/ZRyCT0FslwYJRaXEmnHwYVrdczCQhMRswn3mH1xPdSYWArjnIJehRII0Soathc6AA
NEvGUqPucA7O1DBmu7kn5gUyhgO/1CvwEs0C9gkx2T8TlIahiy9nEexy1v/EDAWbRNP0Bs5ginvL
ulvor+qLcFF/P1coLxBjVTP4VbRu9+tYf3RmfVmB3+K7orfeuzUuNn2y7XBiI8jzzxyi0HOzQ9WF
cQl5jYw9KRmyfleufoSilVf5a38l5OcCI0uKLsDcE3hX+5FvbteBuz3k6xAc1dyjFeYowRCxiq/g
+xAqufuE3luxLXvjiI+pHqcdhHH6IIbOJP9TkL0sYf3rROVzSG63fiuOeaXOwTxkR8wmcDse5H7f
seppiMR3Kyuw9kDfu8csMvTwyZnLhQ83uW/Zl7GU7W8fyfxuQFMGWhLJ5Ydqi3B2dQL7V9tMt3Sa
undOAP6TgVUge3uCASH4um8LJ+ibBAhih3fqnNlu/R3ViPvXYsCLLW05H0xL5Y8rnD1va/W1msfs
dW5BWKHbUD9D5OJ+EGchWeLBvilEjTF/ILfP3gNZoSud7yhFyqmHRZRAL6t3LpwhNc2zTiJgBXtQ
TXxP2vxVNtoXh5GCbIz7bkHlxHT2FEyyPf6TU7advw8hKGKcgHqhdd6mtAywVXeWQAj9O4LMEcu/
oQjg/WhEVCQO4njH3IdvQwmNmbfptonXSYZXGJbTNF+uAM7YIbWpgOReKV+U9AGCAjMkD7x4cSPK
7MEi4ZxKCjk2vSK2qMF+OLy0cWs0Th8AtRXsG3CwdtnTLa/ftqbs613F6bhrbds9l+CLa9BXa/W0
Nf6RTphYE6wT2W3B0t58oqu8Qqa/MYSmvrI0qcPyuchdAGJQ931q8Moeynxov88ledrG8MmP/sWX
1zEFFG7H2LwFCsTOlSG1lGRHjNw45kW4vNd03W7t5E9mnbedDLmJed5yoL71eJ7Xvrl1dbSeqIDc
s6CuvelYgL7nymZSi1kxequzO7uM+wwe8q9OjyjnVMSuEnDUx7KT040K+5+2h33VQeQ6qU51GCnw
V0ySIL0PC0Af0DaCcS4znwKIXhI2yDfsofP71GIaTzUbpMp7sGoThs7spo4ruAPF8Ekm+gpByT+o
RIwDwZAfQ8WSjGwO7yOFcGiah6Nw6KB4fULnVucpxfuyHCoj7Tk0Rt6F/wQDdQiC6koFtqTAmdob
+kIq6uD1YYQP7KX6pHJkXr3rEcIW9UufybcMeWX0ReOaVmGN7VvRV8fAruLHunZsYBxiW11BOwvq
ZocO9pVW9Gcj8y4tnUSLxqU7oBZwu9nW4sLrKfjQZgW2yRqbtItqki1vXtoSPylQ/ylKKHQ80HwD
O8m5wEyOoctekV5G7QeiZ28BwWGDAxNvc+neZ/iHuz7wa5oB2U7aAmYbGsdCPIbDsBxGe93Iw6y9
HgQ++0AjiloDTC1GEmFvxD7YYh03WXtaoP0C76gvU2m6r7RvaaIyCNeFWfFSRl19VNRmOCNUAIgx
A8M8ZdMB3YxFWzyOAJ0k8cuuXuxlcnI6QRzEHv45ZKMaHn1RiDPI0voX3woDgaFGk0Js/sKnabgg
rlt+yRsUG3FQAa1KLPC0+CoO/w5GlNPNMDUvzCP5NPEygmgC6yh1Vb6AhQ8n3C8wRH7bt1iyN4qL
bys05JtAt5iABKFzGHerUkWs8xpjUPqJPUuYh6mj64+cBXpLp6A3CAUBIwvB0wUYn4DEqWwOi2Lh
aS368dVAST03HoeljfL2Ee52DZrfYgjWVUr7Y8pKmNvgOwQMFNFBeUDLQ29ZiMkXmynAVSGXkYyd
/Yg8xhVBlHqktX4cgxLzE1ApSsDg5ZYW3QZghRMI2SWyrbzIxzn+nGECiZmlpI1+WlBxsYMdYXZ/
jCzZ0N+3ccerIkxY245x7zMIwggoJ5ioJFHVOnY/w3uFAMSH/WwnqEJrOCMaJhE483277P+YK1JU
bN633vt9DnzuWPMITp6m1a8JRGKh1grKO/FnO9DgHvv134eCoFgN0j4y5IvkSHdhBth8+xfA4D9Y
9v8Z+UCckANZpvyaKfyrX9/9d8gHQpj/mQ0AZPAXMCCiUUhABVBKr/PwOFPyX7/ILAIRdOOKpA9r
3p2ctGw9e7FRkv7/7+gasf0TYolwG5KGiiI4SYlQUv5bBNdEfilaV9tdCDdV7ZpZjYBlnEaUpUHt
mGo81A1lms6/0EyK+b9haOj1if3b9yOIiXQkU0KqUF4fxF+m7i1dpE0jtd3ZOkDGw0CGRSrBAlzg
uUIgIAqUbt/ATxTzLZkq+kC2FkoD74RJYagH+SXTLSgmjLMZRPL5bP43mPsfx3r+CdBQQjD3MSJ/
WUn/z9zHfxuOfMV1/vyzf2ZzgXkSrYHZoM8AfvAP+Iapv1H43gjgMvwHKiS4mH/yNxjPihUBzkYh
oos/xDv4j2wuA38D+pYQCj5HkZD+z/ibCBfw18VHoyvmQ9CeUQp8U9JrdPcviw/1Fd3M0qItrj3g
S7h694yBeSVkFhdmwmo387q/rDPoSqNKe5i9BJbc4Oh2xI2YwgL505cM0LUsNNpZZMtZuSNB6Yu9
V1OOoHqO7mBwGNF0SwSpp5dKNA6DNjKkIJqO+jIJwGSeJxCuCOeVkXwsjfkcXCGW6Nb3ORpSqR2G
YERDR4CF9qr8GAovfxDdg2suaYt5bR7jr8h+xSS3MaWZAzIgMbDtVwTY8mPg4ZVqDkSPmRwRGkVU
Qegg4ylQNtuRzhUAJOmqBmDbPij3tu7mPh1bDNbJeuZnzFvpghtk76dztSIxDblxqoJjlpXB9zKq
Q1RJeNDfI4zhys7AauD3W6WBWpBtQzaXcKtOHdxqTMQIskqkJA90FaPa6n9kVmXgOen/Ze88tuNG
si36RagFH8A0E+nokl6kJliUKEbAe/v1bwOqUqncelXz7kEPWi0qSQIR15yzD4O6TdRFOO2QzCsP
R22Sv5os/vpTY/fFBeM482CYRn5k+O/vJi+PDnqLJJSSX0RBkxbutwG3VrPJ/W68p3PTv/i+5Nfi
qSJ8Fq6nNnYp/Jl6Sqv5DuyFXDJ5kwllwUrhsuW4EXu2wyPKgKmqoivH4qtsci3S7z3El/6xGZoZ
lFgcgmPoUJAZ0JV0npWqtb1m43Ze1e9rXJM5ux+/VNs+7NUhoYb9NBQQ5PZN38cnbGyyYiveOcVG
j0ez2Cgk/6/Ksvpbj4ltfhXGBlQZs+WZg65l1a8ObVi3B/HIpDUrs3g+srJJ9f3Aue5sI7lQ5Vx+
RfPWjpuRWYvWt/l2kD66LXZHqThksmd5bXoUWRuZqFZ/mnrdjN8BaVUTXTBIScbqNbYfJgStDUzE
o68E+MlDV6QiivduR2cCgnCC9pZ5GSd0ZNm4z/LEUPgEcfvWexGGOL35ass3pQQSczscBjryUBgo
UkWGSzHUCoe1hzucGb2bfFZKqFO9itCx8kNaYtMabRmbt0WQt5TpYaqZxaFddOzjomjXVBrttaTX
ysd2FbuvuneUaCF1UhEd5JwBokT6GzG2a8tXzcfYUSX4ZM0snQKbX/8Wu4r1CaST/iWaxyKIlVmc
ACIVrJ3RT5djhfh6rovo5n+XyT9z8f9ymXC0/rOS82fC+W8U6J9uFP7urzeK/QvMEBNrgOGvSAeq
he8QYUPAgbCE77kC0TZPFErK324U0MNo2hb0sHAd0EELD/y3GwWIsGeZfEVTcOGtas//oOj0rD8W
iEApTdtybO4T3cMR4OrLn/90o1SKbk7NCDoH9qwnxf2w1zXHunATnrLYyDDMdBjs56ELX1yzwnEn
wmnOt6lcTqvKa5uJ1lM3DyiLWdZ2Zn9wwCN/LnC8dZu8Qu9jGcDiHFm0T2x2smynRyGcvjGb+FdT
zxu+1nXWWDhJc29GUKDqz4bV2dpWeVV7145TfcIvjsSOg2M++yU0Cs4rAA62cV+2ptxaOsC29aPm
+jBfW7bLYTXbMV0DJnAR8YFCS9+WBTjjbRaVKLQmy4sCm03IYzEZ8WWXmJZG/1f6V1Fefs1aqndF
X3M3Fgik03SxiDqoVHEWXltstLcSBfUVrjD/Mp67ksHHYByt6L7yvYNrp9W0GfLe/xbHRn2vkAPh
nYKRFVeW9TXktztvARG5MeNnMEdizEAXhk7Fiafm8smqfTwa7WIBaspqurDSBsl92vo7Oh8TakPn
Po0mdKPEr8aHKPa+or4tTjUNyd04cNxslS5pkZ3KK4BRls4ZuwIGvoTV2Z79aXodp218QxNp70SV
hSc8MfktjM2bGHDguzNFNl4Zi+XboA8F10UWQ08MY+RTQThKGDwAfuoomHC+XLuZYnvuJxJShOdP
d/zF+tqr4oMPb+luTktx0Ac8BhutLeIvoynFXcoUwH2yhCxOuG722KD1XVUUEAqZnaknEbmLcGS4
HUOHXjLVMJrhFrhVca5uC9Ri8ThauJIt49IyS9Q4g6l2TuTVl7JrZzRSffiSRBFeF72x39B0MWsG
6fECAtqBZyTyNuDSY/tf2f4JVWF6Zsn8MY25ge3X976o0MF3Z3TpsxxzqiYrHV4yvztlqGXjIE3j
x8VE2ILTbnLoHvOE0MM7zYDBsB9n1fMwquqNvtz76HsbVJJeNSnkjIxlf1vrnr5lrAtYaagWyFK3
ApeGhb3kTWGYnsKFyJT5C5wJYN28DHtCD/DmgDaHUmCBOTUr2GkoNDbdk1OC9hoW9lPDlgaIcGql
NtulBQ+VrKioaMVGgbkAIWUuNKlGtIClklakLA5W4JSHss3C2I0JclPkNX4mm9oGBdQKq2pXcBWW
debOU1r7H5SJi3ZRegxjkRXUUEJktACwKNUs/YAhE6CJ1+nh2XUWXFbF6ZMzZoCixeokuhDNgtZy
VsyWK0vX3OmZNDXo0pCOt6FfDc52XhFdBkQkCtXU8I/2CvHSV6CXvcK97BX0leVJiIpgBYDFc2Gj
/qFggryH5WNFhSnawRfZC3xWskSrJBaqWGR04TdvnuNxx7gQ7BiSRBBkhaxERL1g8qnNFVM2LMSy
waXdvK0KBwmEv0LNxAo4EyvsLEoteanbpryTQrcdfNmdbVNH+dO4RUxHiziMcfk8YD7MtoWAqKbL
yi13JubolOWvFZ/tFb/mrSg21p5g2Ti14DVEQ1FdJK1VJGATF4gbbtfsGyyF7JzMjsPunskGw0x3
MZux1VX8mFnKpleRMzVPMCDKdJcV8OyYg1GibEPl+lqgMwXDiZ0Z6SdEKHLa4TyyMqSZ/N4ovbSJ
Wry2kzgwcy82A46evD/qUY+iJwIQjX62YSm9DxvmeotrafrAoIdFqcjK9DUTMUVbsxY4ZaGjktF8
Hm280m3+YjK+QlKMZAbVyGjFEpRi0bPQzySOs65xk7uCPTGFau5DotGdapo3akhjHpfKwG06ZVm0
r5KF2JslNcPWHOzGTiHkhsqmUOsjkmPpxQ6rRMsD/Y8CeKg0u9zqsdZzoCZgU5Dd8he8TQND4OvU
lQ7QNpGW3Z5VFb1GClXn3Ol6c+GZAN9ZZ8bqjj0mzmAerZY3RArQjvNAQe0JK5wBx2ZYAzGt8oyN
U9Fc5ZMx+ycP3+rXqUpj/aIyspaehYLADLoxTT4j20ToBHmQKjhsOa83naeL/A5BywRvzXRH4zii
aAVG4epa+9I5NKbb0gA1u0HfNhunRLK8v+MmRq8fcdRx6CkIKBUb8pIXHfkHL47GcrQzksqFPFD5
7kVkTjI+DkkLajSSpveReANSaGr84guquCw/Dl6SMgvLJSWzP9XgchwYEwgAIzW3e6Bj8M46Fm0s
JtHewskPC+4WFFu1xBA3dRkATAirPLox2IGptM1PLAscZAdprF5dVy+1I3h8T+0ZK+a0IXj+vkF6
5tfN/TGEW35GfCm7BfwYuCJ3rpcIBFh3WYfWpPE5J4a4kFQadudeZEloPMi+c6CoVrN174UyLbes
TGK80pH7zSWV4L3TZhNgRDHaT1JLURW4Vto+gYJsky2dJ4fexAhp3OcpkhouKsO6j9D2igCORfhQ
N0YcXUxY2MWmqapGJxpgVDY9ZmazY6qH8BmJoA1dk1wAdeS+wd9hV7nFmtVG0UO7Ikou0Bbhz6uC
+ajzPZs0c7IHFXIXwXV/s01lvaLJA9gHokD1gdu0GAhcBAlj0PhuDKBYNbxXgE+Q3OJk5+S18X/2
ewbkyjoWXNTmtpgZ2zMMrZLyCk0rK0tQAfwWmiqzABSo/ibXlccmA+p1HdBSAe7y8EZ4fEVmdls+
RXPfJHFW7CJkjlhueS+KDeTYcfFOG1j5EaDwmzL7xRaIaxBheObJkf+dlSCLNG8YnnVXFbBVTZl+
GOVgLP4fazCZ5xvpRT8V1lOv+qEDyYRVBXYJKNRrE10BsoPKogbIAIzzb+o9evQqLAoP5XREuehN
KQQMbZZNvBENbevWc/3mcWh13LRummbPluazLhqlo57A33tt4HYD+y0GNvh045bvzQ0d4JGMSfNb
b/RjoD1huQ/ZV2Pgo3O4TxgffBojKWJEIuV8pvRUGZVCPu45N/oXDUTES6SKQgCyYM8XqK4RHP6k
fmxGwAWHdjCNR4FlRG4nHjCxbRtXe5OlnOOtxB0NOyMZaEOtsUJ30OuZ9mbwbwa5QpS70WIRH0O3
k1s+YX9TmQi7kOMvhl53SIMJP4bYpDKtT31BDbGFGgMNuzZa/YtmTt45snR5BmeCwg5ptzECXlFt
to3bViLD9bHA7miCIxgm9bIsxT7UbXWlG+HCb8Cl7/nucI/D/IMRfxNkvDaXZdg4AZNf2lMT7+9b
44c9JfQieY00/cNnLHypezzTKmkuqQ7yB2qg+cWDLRaUTcY+08YZ/mDpnXVZpxD/a7fo7jqIrF99
tyVUDWt5289QWxFrkv8wJhzyRl0Etp1BV2fssR3Ryu5MKfVto1XxblCWfpE6PduObBKHEW4LPhN9
3jE60M+ZWZpbUcrHaTKawIpmJjldXh9Z74PozWLt2YqmT5Nw1Zes8h9G137NEFIEua7jRPZqd5OW
c71N265DU0XtmSR6BxhqsE9NH5mP7KqswMFmcRSt2V62osvuBoD86Ex9hFNaaILOKa3BH5clH9VF
Ovk7/NfF2Y+68lVVqziwoGHXJmBB7JfNT2soAmok/yq3Tb5c62Y3I5uYTexUOuol6nFoj+bn2SoI
TzDa/KLP8PCjmhUHg+kOLoJ0duSBIqDnwXUxDNziwuHJHpNpl0dRdl/gjYFPi8Ro2GIHSokecRdb
Vtn78U4TyEWLEQ0FIpH5hleku0L2gmydfU7KmIswGSMzxFXX5PVLYnTDa9dDxZkRS14yrwABTOID
A7J5fEm9MLor1PRZZf78pFpjeNLyqAwgpnb7sPZDUKFzSS4Gv/3PLIbYVCnVVDbG8gYQpo6N+j1N
Fn4B1uUbWWga2is/jW7GGQm16aFyw5fMiZm1lGtdY9xUfF68IBGUqFARQ7PgFbyaM3sLU9nfgZny
n8NymbwN8Phz1k1zf8DJVJyFqKYvjiAQxh9TbRtSrN5nEGmZWJrmTaPH86VdRUMQGlr7hgy9e1zg
e18SLR9vvClz32vQx69KOjdSc2Dmr0O+0AnFjslosw9LQmAyz33ucaMAie/6m3T0iiCtTGcXOgxZ
DUMDLVd69WtEkRYYPtkxmAgEMK5hbvtDVIBiDeJIV/sKX9s3P9O9qw664HAS2tQEBXbANwdBV7Xz
TO19tsnxYM6a7Qo/9M7uyPwI0o99z6z13rIVu1q2GjYJFOJJL9pF89Lh8nOTc4117dKjJdgNptnu
hFvHn6dYVmhkah7VUQDnynCg7wq3I6+jaOroZqLLvhSZZt50iEXOMaqs+4k5HxIBpo8xMTxudwij
skONVHfneR47fvcjFRz9OiS8dTqtARBnn9m7uwKdyUH65O0kXtZgOtLbI+uVmjyXqv7ASmFf5xQ8
6CPMTIIkLN123ErJOp2X1XCedI+1sxW6Kg78KRR3VqK8uwQz5RNV6b0uNe1cT6j10HX0Llaxxjg4
MtG/MP4wvqDhZKTeDpm6TdH6vqS4Qa7Lyic9Jk0sIE0ieWB8zpvcEb2CQNy5Kvos8MQUBQMVB8rM
8N4V3BAeUFzOcaN6bfXlJJKxf9dwibE65MpVc8bb4kaxdrTDsnrJ6r45ZrMzfMEwa5zCoirvW0qU
K3gpsG3GaCanQA/bN8eq26f/Tff+/XRPsFj55+nezRLm9edsxt/He8tf/nW85/xiL0sfvKEOCyhG
aD/Ge7i16cBwapvmQmVlS/nbdM+0fwFRalm+0EkR070/sFzNX4ht5Au6ZNx4Jguj/+LXhgvL9O73
ZaXjMmozDTZPbGRhFWEs/+N0DwU6OJsZMFg4Vb5/0a+Vv1q7AMTcTfIU1TA9kelXYXMxD2blbV3f
oaWAS96Xw2aehsjnwaTDe0k61j9PYW9o2geza7qviKgg8sHoxOxNu7Q1xtrhlGu3U2lmopMRoZlf
s7UfGpbWqF+7JOaIoX+D8lxNd3qnKhE0ea/uxNpwMZxvLlqD+iLQaumUl40fWV8TVyJgl+zsfNY8
uuWU20RHn71v145PrN0fnRmdYG/GkXWIpgmbRAjJfdjPaz9ZtB69JSVZcjeuHae3dp9jJRK552/q
YE6heXgcZgCPmKXMuCPzwcmQCxBoMRyzkjUHmwSgTmdM8n350GnMSYN+9NP2hHqrLQ5qbaajrAUR
xCVcT3t/7bqLXtKBp2s3rmSjqdOEbz+9QodvsQhbG3mFdL3eQ8rtolP/neXuKa8OcNyJ6jx0TR0f
EMdQhCYVI6ZANzQO2y034hyehReZ3yyiDhIDqrkCPk3kSZnLjW4UILoi5swF53vbfSQ6D8uuS+Bt
7bNiwdpXFp5hRDALiiOZKEr20crpMGmDy72+Ujx6jvVo5+MdubUXzMewAD/wqyLNWCAgdDblY7mS
QWy7nPdeJpKvuHYQq5srRUQsQJF0QYvMtiPRAi7UEW/hjzS1ikYoKAuWBDY+iJLKn7HBRKjCyKpY
SCbLjw1z2oI5CVfiibvST5KVhAK6K26v0fKVR5CKeJk6zPfNbTiZdshuE2wTUo1RH7StwfyKNkrD
g08H7xKBhFitB80irT4SPOdWjgoQBWwGryDv6xtpLHCXqTQqhmswRBy4L+xx+M7tUZuvIZ/U8Wtl
2XV2zKCWwxqCRmQcJtKp0KVhkrYPduoV1R4l6hIp0WnlJezZvvggKishFoe7oQ90Om0du0RfNQfU
QehjvFh477bynOHUOLjHMXVoIt8VTrl49AzFzKIIh2XOhu9r2rmpWzRH4H869PQ51Z/9NEmuTKny
B08yUWOeNjboyH03pK3MZwtxutfa+beJ/SYNKa/gkWUFxCd0SmkPPYqfaDBR9ABX77SQoC/HVoHt
4VBHEOlZ0a4yxvo6i8YeSJ4L5eQagL3oL8Nx8O2HRpck1tg1beRF5TS9/SjZ5SFNdwuNwEDcEozE
kXFEd7oY9ReuwMo+FAIQ0nWHFx7SJ+Nw/dyBVZhOGcLs6rJSwOduM9vC05ZkAw88/y3CL9KpGQRg
wTe4rbX6LB1DnAR2FQgSi2NqgkT70pp1uMkiWV+vjikNLxRJfN3I6aNnx7RBBsWSkFn74pyaXIWx
YKTE/O6cmjXxwSD+mXiHFH8mOEC57yj5zYZPva0z3iV3af3/xks1Ws54BE9DeoNN41AP3tfMyj7x
wtBB1c38kMvw/P97q1RfQgrLCbELsqGbqgP+Ku39X7msfNUGWBKzz3bb1PgPQ+EeMaV271Ar3Jfv
viuqtsVeS0pIAWPoJ/8Vlmx1DYoJXwzat7+asBylYVv1LXu+GJukD9HeaPPTqFdgiOi9CQz73Yk1
J2xYqILmjzY2uhtGWBpERc7Z+PRvjFkhxO8L2bf7iJZg992hRW5iTeBelp+U4phBbw6JcGGLRw2S
dpMzhHFta8O/zVACFqmjjuCpmBE4s6zZNS8GLk2fs8vUH+xDjLTiKeVA361GLi2Ko0dWurihkyY8
Mi7v5mPhckQlDYJHo2q969XaVSC4DtoCUzRkCmsjbSHQqGnWcbl3t6vTS5pY5pcfwBMJWpjBZGFt
wTjgQh24zPTJeKpz/5UumJnTH/1f2eL/MmCxnqu2O48DrhoVOy1NYtHDXTHe+KxDy4YqzKNAr8Lk
k3Kx7E9JpyPbrrAy4n9kY0OhctaKNgRF+cMMhmbZf+DdnLbfzWBNT5vmdwH3IW4QsyBp58+uMF7W
bB/ZyAX/zhlW+wZHlHTHe40wuofyhztMNuJmEln7+LtDLEZxcMkwLrz83SUWmmMJ6rh7kug37391
ikUF8TYDoQaLo3raCbmQSfT2YdL0/PGHbyxM8i9kT5wtDWSllUawYx33WyqNK1JzFofNry4yp9SG
A8yzh9EYolemyQyff7jJssjNt4x/8GX/sJRpNCGkUSbNu/phKZt9M3k3rHL3j7aycjKdC31ojqu1
DFBlfJuQyHVa7WWTM4bnoezlabWXCTM9poCvsR0QHYR0PSUar4XQiM9sjaVzTayLtbNd/WZcFz2r
7ATm+7/wnKF28GGN4q7oYNVGCf4Kiwg+k9FCGPCNP5AMkn/A5LE2ZZXXuxD9C3l5dje9RP4EPDki
BHUxpZXSrg5YDbbxJMaLtkwkWlG/ODhm/82DRSl2KkwJsnNa++K7QW0mhcVwMfAMbP22dTs29Q4I
mhOEXqmOP1nV6JihntWxZAOQMt6elT1daeSmPnqtHwdun3ETxQ0Gh5+da2aPOWgrWj+863OefcIA
ukMNMtlgbK2zcMCYkR41CrDgVw9bPmIQxJDF1R5WX5nb+qfO99TXIQexgNUeR+jYeubV7NfjKaTY
Z9z+u60ti4zhEz6LifTA+E+2NqtPiUuzZJru/+Jto0zkIszCaqDC/HuDW5VM/V3lQIdYTW6dBo27
9vRwuk5Sw6U20VFpf3e60W4f+Lm3NcJYJbffnW5FzpbVg7i9+1u7mxsKH1YoJ0wSUGFZGSdIWW5W
5xtuEHNCMJwnLJukUsciU+6DhCfw/JMFriCv6CHX2/L8kw2uN0Ybu7SIB1xrCHmDcEqrj598cLHZ
4wj3WRJ898E14AceCtZiGzm0pMxMYbz/2QzXa8qoIf93BnChohouc0g5xSbN7exgt8w0/2KLK93k
E4ap5gRZTiJJ5sKBgHBDBW482lOYfykb2R5IUQ4XX13JmJhs37vISdJ92bnPoRHmQVvpV7VO5Z/0
tUKN5YinNJ++rFY5UOMkjHXQ40SUE3lrlf5u9cv1tqfOvWNmh7p3ymAyi5hsM4/7DlXTxiOWd1/5
tDY8juGjNMSSi4dBRE3yxRzyz2GJZT3pvegE4qZ+TeOm2c6am160QywvedDKSyYzxt4nEnWnMiQO
zCbgz+ciSk9R3HDLlKDMGwoQFz16We6xxQ0Pq6+OqEzl70wjc3711YWl1S9k/zyZd8LUgb+RazNT
HOGECbBudZ80McXgB1OfjM4q0/d8wfJqIEuW0WwpzTtAg/P7rBqv3IoCuDxGxKq9DV3bfQd0zBKl
j7sy3SgvRg6XznLAtWzMF4CCwmiPVyIkR06biH8clX90/MXQnA1pvesRRZxlAdQssLXYLW9BRrjX
pPwA72jthI2gHuvh59HFTbRI10LvQLC00q9ygRFnV5VtV2ynHr4+rOnxpEclwI1odopzX0yWuZ/K
2XhxelEQ08hzjpm1knFx5GX1cCTXniWDFjM72aW6aQ5b4ELZM3Pf4nHGwlpstVST8aFLTRQPswMf
B9JRKYqjNcGb2vsAoextWXaEfohO+NuqzJbHt4UsiobEkixYoEO+mxm2hBsW4OwjkINHT4SJNfbl
DOjK39W4Z0lJGxw2GxyVbDnKdeMRhXZsHNJ1E4J6GAXGxiyRtm8x/ObDsYqi4imJskawlVk2LBy7
HeBKGD3PTZ1h80jXpYyxLmgUMO/uMK/rG24eVjl93fTjYWI9wi2j9/q9HHo2wl6SsAoiktjod2bf
QiNip4NbTqPxbLYTW8A2UOtaybYhfR0hG5vqXLDhMNG+LMuofl1MhTrij2PahlG0c9YVVhmPQ73o
tSPQs2xpmdT5BI9r3bIBw/oPudFvFMmxBMa5r/w4l4VZFpsLF27dpDnrVg1SWq2OUgjxTU26/e4z
bcg38zBBim2EwZM5rms63y05q6oWvU8gEMvCuV42e+O65dNQSMywuXrfDQrLYR1YpKH91K9LQrHs
Cx2jyPdZNOMqB5fFPtHNNQtX1bJlTJeFY7usHm0jxvGkqxnJD8+Vok5cd5aa0hbfjm+TOcp2DobZ
NQY8XlSaGPOT6xOyGajvK1KVttlJX1enMc07WhjaJm8/rktWkQgPmn2FBHXnrYtYY13Klo1hG1/+
Nwv8D7NAJG//PAu8LrvsLX3L5dtfdX6L0vv7INAyf2G4Jgyucx+GArK83waBpveL6droeOAkoLRz
bIaHPyaB1i/UEej8cKzjaPBs1IG/6fxQnNs+syz+wx+z2bP+yyTQWmaUf5wE6gQ94ZggRspDPqz/
STlOqqXtxwvps5i9huXIUJWAELqMZBI5hFUU1JnDbAF1e4aHdszB3CFsJux5QgZMFdjEMjolnon7
H86a/dIrZ5pRX/V5u5FtqaZLFs7YxgdnySyzQpxTPfMvCFWTmD6jWTayqxm2LXQ8Pve7ZqPyvg7z
tIRiZ+buK7CXBWTbgGY5pokXHSr3su70Kb+rJ1UbnyImQPLKrAr3/Z8JeTltGSylWz8S01Vn39rq
PceBhp/ss3AIWreS8bMTTfZ+AKTXc3ltARlUAA9Wjt6E8GbwUtKffC/7+A7U4z7ATpd25cN3ql5e
2013IzDnk9cQW2MYIBAjhoIsil7ft7miBapTABxBXCZOH+ATxSVNI5yxJvIW7p5L/XhuCDkcpOUs
ujrlfyZ7OSTuSUv0b7KCtbMrUIPMXzNGDvIirjtCtrb/P48vFm501XBw9FvfDO39Suab+agXo8pg
O/jg+eq2Ky+AMZzs5EFb1GQAgyABTbvvxL7aRMsSzGblEB2DHonwG+mTbfUzvU95bTceQz0u24tf
EX55bQxnh8lIQoDSwvHDga7KVxh5aicHyc68L8guLPJcnYqqAFO1gEYiVrPM2SYhtwyp7PmumSIF
vNlDxRDakoQV3ZkXjSG79MNAkr0IAAcV4a4oI5tmhUjg7gQ5GB2TaaeXpmjI5tSQQL5Hw8CO00d/
AVqk0gZWtnwH7M4H8TpUihj0uLDNBceUw2/0EqZqQSnwEMNfMXj+GfhHCWYwz7C2Rinb57yHFrgh
LxQBkD32EKlxCY+k1kTts24WQH6nhtDw8+DoRLAkloTKMBrgUjbA4Inlw3fvXYqxVjq9jO0/1GPb
fiWiuWm3YC61b1Pp5YepMvXHqeFK2fGz1dXWoEmu0YomiHkaI6ryoJo09r2y8s2vepKw/OrKib1z
QqIRg70ZOcJGgrgDPOWPeDIk2p8eJNg0oHZrp4caIiux2cwPWSzNnfsNAwmKN3gZHsHbNBLJNRdu
+D7mIz4Pd5INl2QCimNbYKp6n3B/M8oydGgq5DV679RAiDVCOQIqx84JL821u/Ik4Rcws529Krqs
LCd1jnwLRXNyrSGeT6ZosethkPNJuTDaGaj+MC3MVnMRl/nZpC54J0v/wi1L54W84ByBPjNZ72ky
rDTed6ylq63em1jaZQl2f2uO+Sr0iiAxSbPujOuhm638MORmQ5CVISllzVD6H6bvVNVemtaAwJkf
JYNWZ4b6kWh+3V9mmRHOR4nI493O+IHuItRs0caJKza5sZXbwBHsBkXi0DmoXUJnRM4lKdloKY3I
AiBuKb78kAPDXCAaEOllUdfIlwVUcrbkfWRThMYh6EynhwHl8FqSyJ2AbMgYPX7oU6SbqB6k3CPd
km/Q+/T3wSprUpJ7ejDids38VhmrKtKaoysfLVyDM98YiRadyf/YViBgsIiUcGlQWC/WEYForwKg
AR/1xHk8fiXCm0oGsRjluidGUCO2Xi3Tb+yuX+bV66JW30u5emDmxQ4DzA9nzJQyxNjbTo5jBuwt
ukdTdeYbKgHeJcAv4ZsLakk7jk6E6yaPBQoJdCIn2fPOBMpEK+cSrEpLjpqcGKcodEgyWf08/ert
SVafT+PpzAbBI1Y+GKDFC8RjarxHKKa+6atXaFh9Q+PqIYpXPxFdO4JpaIYuHvMqfafiQsHgrD4k
Xjs8SQPEUO8a6R/vhRoH965fHUyxZPdte/6Irynt9HKTLXYnvWvS7on6UlfX6ApY1o+LOYolFBno
dsF7tYtgzNLZJBpKHMVcnDkLhzqu56KBr21WzyU9w8ZgqXsalP/h4RBCghrnxRenrQbYiKVRPkCS
wkLsO9OHRT98TcjnvKi8pH0fr3EhvIHGQesptfEOxrF24+KBfR7cEN4gFAP8z8TqtOIaGxdCE8sk
fcmG6cPrWQ4j4TPSpiqm3ydrwFyzTOw112RGK0jweoH4FErgEn0ysf1/omzIAIstsSgxppNasPJY
AlOaNTyF8wFERr+Gqvyv/vwP9SdL43+uPy+Ht8+QMLUbck/TvylB+cs/SlBcJmLxhGBNXarJn0pQ
gbkDh6L9vTblT36UoC42FFwfuCfpqxe4+O8lqGX8gtUQSh//BwyRvu38lxIUN8mfSlCIXZ7FjGEJ
0cWO7P7JasLrllsMOlk9dUQ/bWZw+SfNM8o3Iyn8ryxhieRKPEkKQT+EeEcmurSzF0tUFi0sJuOi
ZjYWHUtrltWB5BPEbxCRUfZUIXzinZPm3ZvsHLZ6hhlGkDui0oCg4RfoakRBJO9+gNOHSJc1pYx3
BgJx+I1OKe7sui/5Z6U/FAfXaKxNQ0W4VaYRXvoMLK7Ju3cuc2IMEEI5uN1QVxr1aS5jRcBbHEFm
0/vOYMka6aBnDGOaAwCaidpWFnvgwOr66ZnrBi2M3RjzgRhGDzVWLTCbMZ7ZIffo2o2uuAEDukj/
jjV0XRzzzpHDGU5Or19DUZTNMYVFaDBvYankp9NFzmyPe3/WlS32nlmQ6lHYWXFfkH6T4Oqzy28s
VQmMAZD9rCmfYt4bYN6qkvpW4EtKrm0ZO3mQzoVnHOjky2+RqA1jU5i2aZwqzCAIoDuhYerRPByd
xH2IzRR3BZwUg94+uSBlKJs5dIb5AnemKU647dt3GYuCPJUyFPrd2FqRDLgBfWL+EN10G4bfBF5q
vnELOIfRjZQCcMwAPepOsG18JNjkK7PPyg2kVN2zVuRADPWuSgJBLZWMk/tmzlY3oMCRQCOTkkRS
si6p1N2afMeT0cX8DlGM9uNRM+W8VU4afhpyEHgnkASE4FG2eNmltOXO6DJADGxrnaR4LXqKfTFc
OHVuI24irS/2N0jC1H3v4AFhUreJffnY+wwc7CZoM+MKo6tz7N3+W8iHHEviqZgVQYlrrPaIEPHC
Ib3t1p4RZtr4RXJmpis9vKndBENQBdZUm19Und1I3VYHq88evWEkbaqzQ9aPFJa+Ja41+1xH4IVG
2yo/h0V6EWoYRI0kXkSVAjhXCsLbhSBoXpAsdSb32Q9PYQ1nGn8sn+tn/rio7beW5PO8CesloFX0
ZXIYvTI7d+yK8BiU0zCR8dfJYjxWKCSAIs+O88o8vfCC2kBMfd1JJ3nX126uXjs7hOnT52Ht96q1
96OKow9kAyuu1dodmmunOKxd47Q0kOjMLfhlmgEBtGL4C85/7TeLtfekjaEOb9aeFIYe/WmGGta9
8tisa5TgKT0snl1SvtIl8Kuq4gHJB3ts/aGoQ9PZ44wFvJJQDPDUzq1gA5LXCDLjJU0s4YAKkpIg
+CCyPTChWJp4XDsWHojIFBzHmNVBF3gtArYDwDb7bIMgv6GfIcms+T/2zqw5buTMon/F4edBB/Yl
YuwH1E4Wizsp6gVBccG+JpYEfv0cQGq11Ivstidi5sH2U4tSsRYUMvN+955bRlihhwxH7y6d2jhf
15T7YVdfWtDUJuOnamprckNJAR1pxHgR1qJxKB68RKc9K/I+9HSD76vWvh/Vq3xqN6D5bsRQnrlD
cmdkzsGagSqWmx0HqeyZg7N/LY5ubt7MaJWOUwjUTkyR06mcY1yRhyGhpDZU0WlgwO2TXFaZ8cB9
Nl7RurIVnYSnzUi8kd3GLWnd8pvumpm+3/IuMxrmhmevBusZg7/o580+yauuQh/uVkpQn89UFoqI
bioZgGLvSJBVG2S8zVCAYsmIHRt2tGVWwZQ6V19qWV85OB/xPMojMUKAr15znPLgLQreEOUSv2/d
HcL+WUgoZOAa7wGtWgFDjtQ6qRDEfQpz3kTcXdQcXzR9XIfWu+KEp7rS/Bz/Hs6KTYVxIa9UbnP8
1iB7mUEwfNJrJebpiOTkOvEloLwzNsu3g3dtNa9tH4MXtdmv4V991K2WXkQZ8hWA7cmZv2XuF17q
bXlTKeyMjXwdRYO9M2sItcirbhdAx+GNZ3yVAfEF8tbsAjbjOGma57KqsG1L5zbzTE7f08e6SU1f
V+qjRvnagpzJugZ3Xy83vQAoE+vmagBojBQRw9WRxNYtvVUqLPHVVQy8PQvA6uEGfOrw728bkDxr
x4pw5RbV2lIK/Sa3tfJ9LHBZ8k3L8peMLMWqQcWfFPL62bgtXFL0DJ2NLvpoAgLqm3Ht9M7GoY+3
ikBF0yr7mWSjQRGC392/GXNMqFHKO5RtuRBtEEZdsvhNTbygYfjt5geF/D199GfazLkJ2+4sGdPH
EsVliPQPg1JfgnmLNqXREkcR/U3Y61zO2XQqenfa1GN+Nw03AJTXrdk8ueZlFytrXTR7y5bU2lPv
l+HyNuecTon2cGsYlfuB8T93TkTS6dHL3e0MyhHecM49k5kEY59Q4qMscqwo+vUMz2mVdoDYZB2w
e3p8lpxSiSisPavnmoku2Yi4h8H5RF0fzowHw87Om6lFXVKZNbftSRbtbpxSUOKWdZ/lOPR7x2AC
iS50WXJzxI178vKAC5EhNGNukO7ZCm/A9YTpiObKuYO2TQ89IVEiTDs3qY2t3swdU43Vyk9DbhXn
aGysWlH8YA6Nz4GGi76KGVWL3G8j5x1/xI7DbbZKOLz4kUnFiDqQNL/TDeYyw9svWB8KPID84EcB
ENWAqsP3Yu+twjxGZnzRlFByABKvM8UazjRb5IgR0+3C/+ncZ9bc/uhmlrYrBzd5sNuQql0g9WLT
YHp9tA03MGYslXbfNV3/WA3QsBB4sCFnfbeZnOCjHZCQJfAELk6glnR6C93Ta+aQf2tmExHOME0/
soLDG0s0SDs1OpAG0p6AHW1YdM1r4aFwTTSZIrKV9FEZeavXHbtcElxwCBAQC3IhEMrARnqEotud
Q6P4RV0wZTrX4c3FTwPF1GiXNB10WyETfRcr3XCTWqKZ0DXdANOWp0Vvo0E5mQe6+GossuRoEnI8
FsJm7NIOB3fQyqPeIn959EKRAgydbYeyu6d4LzvnCORcxWoM2ECpeyKlZr2RVMPsI0ca1wmwwPsw
0JOKiB5afxmV/WVbV/WFjLXZ3Jga1+MYhURZx+YibOMrTRT6URCNusEoc8eKIRH4lMBn3e93S99V
molt5VhEVcdKjs+tSt7KT7GyPNR16NwqU9md95yDD4BkEr+IZXCulU6JRGS0WzMF8IbB3NKeZeFF
k/9fTmjRIUmsZoUPkblqjaISXXet7gFOgKROZo75JlKARkcahavomyqrQfaQqkXkst0Wm5jjqbOp
ycKhNXWRjtpQqKPKwJNSG9LC+oRXvpb61p16Du2JIaI7hDdUxqzgIHqkq85K1+SU+/AuZf1L9zGb
8vYEaTdxVmYz0YU7eIUz+gG3GfWo98DP/f8cNf/EURMb8h8fNY8x0ntV/s4hk3/25ZCp4V3WVZII
oLg5G3LE+4wzAHRj2B7nSFtlZuFisPvmjPm5oIo/VT1Hsx2P2cTXMYf1kwFwx/OIC8wmZfdPjTm8
35wxLU6sfCktWCIcYMhffm94biOXwaM2YGNNM/xfuTu42mpOySDLLzwUoeGI3LOBUG/shZhCDqih
AFILjeLSnFU2E3Z9so7gmrzmswrXz3oc0fBZmtNz753ROoKdPWt3pR7rgh2Ji6SXjuAgV11kIvWF
A7eeg7NIgNiekY9yLW/qrY7c09EpMUuG3iIf9ouUODoJGJEiZJC71eoAudGmAILwVFGX4YYqluk1
aKJQ3SeLUCkKiltWM9+1WCnaLGZqi7BJQMJ71xa5kwFCS/dz65jFTiGAodHzy2OuAtWepVKZUFeu
1iTb/DxwZ5cnQRjwALPK2lVejeJaYxX6MCxCLN2pEUw6A3nWzVIcNMki2xqLhBvkgl2XtUi7aW9W
4lAtkm+xyL/DSODKHz29OnSLQKzXBZN9ioJZks2koYs8F+Sg7WQOXTOnn16LRXC2FvE500qsqhQe
Bq/tIk9ri1TtLLJ1MSvYeSjJkIlF2HY5bN9Os9o95JIYe7GI4Eo4C+LWIo4LCbTbZ+jPPkMNSrqW
lQotnUkHf0y7CRJ7UOEwXlltHFO4nOOgWslFkredWLvDaVzuulmxr5HfgePPOj4xd+/WXcR9u2vd
8/yz5L/I/yrgZ0gKHtgJv+4aRV6mg8WON58nB8kyRLDmeUKwjBbKZcygzxMHsQwfgmUQEeKohwqz
DCgEsNJ63QkNcw1ZPaMlgk8VIsFtZhv2MuZITREMQGlplk+WQUgomYlAFgiRcLUeWvs8M9FrOAgH
jouMUuLBq4LNgKfNYVQyj1tSw6suctrcQDcABGRgyJt7XWaKTRmVRTcBrm/LG/bqUs8kpRDhjmnd
QC3mUtLUk2lljEgngkuyZ4P2FBno4FAlkqwgs6MMfbzGAgkEVc9t6zaK0N45U03K+WDhIluHdRLp
H41cNCoypD3V2QUXOSVrOuYg5oREIYusyDfAMW/yqT+FFTGoQBgmvMlmutGMhjmlrW1c4YWcbESC
jkteucPHsBf0xvQrixbxpQ+KUH52aVr4vMtBAi5qXgd2H0eN1hAiYncMJrFx541wL0wbBblM3slU
F5uUXlwsWCMEwERda1qrbNW8g8Ytw2fo4x45BHZFJrZPtm/urUE6dkvAwudgrJxnYboz6rh5TKui
pxgXN4Hr0+sQb6RLd1JImslTQ/tJqmGGS5zq1TCnLcBTFRi+hgK6Pco/4ObauIr14JVhd4Wz+hTk
7OxL+Afj0Of7mn4tbC3yTQ2Uji5k62QOgpkk7ufq3TNprhop4FX8pmLaF8dWcDYatjv3g0FIqcwq
Ww9DpJ26fKSlLmvCJy22S2J2SUlAvCOqjQZzxEKHpcsLYvV5TMpnGpcxs2joV7eF6ACvujmEU4KN
56OtPCW2PQeg+hA3fe6gfYQhEzfHuUkovh59ar/w/veoJpGZvqk2LYCh1qqvSh2n53GXyCu1Vmls
tkcCo0KnQkXJuOJiT544NMiNW4O3rbhf7xwv5xvJ2ASxYqLb7hZyC1/ttPVOhVRAlkj9JsT2MVXp
PZ54vLJzkRZw6WETTmy5XNMhXR65HygbvDCk5q5k4qBHlPptNokNN0FIv51N0ZlbPdBt05LnFmkA
IBm5fEjLY6GGW95C2kugjUcEcCY94wxQjR9yp34oW0CUOu9bahSn3OF2w6VpOZzHA8e8sEVAyezs
W2WPSyv65J2YkDuvDLsAh9MHv1IDupk0I9y65BxVb0K2oojuDAuNvtbH5iZ02tsmHYrV0uhluDkh
GkS71TRPbuw0rXfYSLdDOH7wLJ0yYs1qzupsgFjfsbWvixuZZ9s0L2hZrbVor3URxx2TsuECTpAM
PL93gme+XWcseXeOaw50wU1MPAeOkYZlYk2uy6eoAx4cyisQQ9vO0w6ViK7F5G1hFtMjYAwa7TE4
qSOtP48SbyfCeWao8dLNdAjXqaGmZ407bpMckm8vg4vaYGZsJ0huBYfuSMe6Y5ihvpahONB7kl8k
xCYPU0jnNkG6D4qmmfuimMprPW9e5x6yptGHGyY4nF5beXQ941pJxQAzLjeOimaazMT0ey1kiNMb
xl5nmkK7gpXte2l1WyjE+nWeM1o3IpDcpXsmcjnuapfuFTAD7dlU6c16qLlh1t10oFvyEGEFayw+
9rp3X6Xp1udUxD2FnO78pGsGSMPdZU8H372j8iVxFeGggOj1O+np4J50APYKaMvnMtD2LJHnAb47
zY/AAXAwl5Rvi92ohsaeaNdLhF21qYxNoIyIaggd0WWHvow/I+W8zqCfkFB6QbJXT3yOmIcpa97d
iScST6p7a4mRusLKmIvA99Hn3rRMPLaxcypyiHNTRX7AolyYWV17ntDhd8ixZ1HdRIwc0vOJj3ug
RkLN+aPO2facOgFlJJm2/lyy1si8+5iS+oeItON4uZ3jAReVjpVflfaW7ZLlOzjbJp7IXmHbtMk1
Vz+Fv65g08mBbuaKlbelh83uOP/n+dRg3w3pKeCckyj2yPmJQjZv0IR+bAi1BlNxBWmflrH49XM3
Gzn94QYE141Rcx/jfrTn+lDXRKNh9OqeuoYnih+XZ4r4KcRG8jZsgqwTJ9CR1aYbTAMPpiyqvSpC
uPTg8MYL+ufInUKkPUo4Hys9GNkkck3rZti/WJmMob9M5tM0UXnh0EOy4XWs+eCY0nmfNLUq535h
Gt/SICTIoJETPrZNka/kUKzLcTrgXT5X4mzLO/+yVMFh4U23eFNAuIfJWRHbcg2++3FQ9PsZ/7sT
dJ9s+XF/KALZbBVQqbtmbonrM+1oOJRWa8bRKErmzpcBHt4N3VrdVZc9tQbN0EXYrQOaoTYy4XvZ
ToevPXKpJzihybMZfdcUN15s7vQCurtwioOnDBu8A+tWNgYjArg8s7o3MgNm9PSxjxi2pK5RoTGJ
S8GOW4OD5BsA0lh1ouwTsBYqcoLG3pFi8rihvLbWfcMlAmwpEi/qoO7CaiRq16ybTLt1y+kYSeoM
SwXjQz03fgKIcRvXPCa6rn2ur5PwHDiBMkUSYcX2MDqv0PTAYhvjlZdMzzwnGoI6QtclBF/nnS35
phZ8hSt7DZh/m6F9uRXNREMdttsqN6hmqFt7JR3cuYHl54VDt4bRdrulBm+pjRtF+GIz2uVeel0g
UM21eIYixVyGQSywP3e18FNDEMsnsHDMqvSJHOZl1vc3XVLeT53lD2bwzGDnGAzWK/aEUwlR1w/K
Ed3Eex2UKwg73ZkkZ3jlDhToSXk9lv1KacpxLbN2h8mVVrGJDqiA0/VVCqCEs8B4NaKz5H16XjOy
8HtTHBWPsvueTfbSvIfsvE9r8tdL+x5fDOiSk81epjLih9hC9nWENzKi1tXzIQooE6Iy8vFzDZ/S
OtW2qiT1KZOBFTcl8vihzdXZ9KsAKbcYYflWY7lr7PD9bkitYtMHXrLHv95SLyO3TOvPneAMt1dA
n7CHVBVqHwMaeIxp0yYKDT7T5ZhFuGNyZNir0q1XqZD4qkDCDcLZQtd/cL7v9Ys0Nt5zSzjNa9dj
3vpGNF5GfUrYNeWCjaadkmXxNUcbOBTNxzR8DoR5Nu9T+xBQkDIPyMfwYBTJq9W+50O1UozBBoFz
N1kZaRrbV2R57Qb9pWPiYaGwAu1JPR+x+kP7UGW+hzG9cwfK6VqOhxZSjUW5VBLhq610H2wHTlnQ
HwEGVVtPVwxFmWcpDPffe9iVc1vWALcNydgXeHTqcF9xS3ATJEp6BwNP3gaeSuXG1UT7YDqfGXvt
wiralTdkwImhT+XNk+W1iMEpzWtdDIfcF/Ak/La+bdhgDZjQLFZ0xEdf5zYM1mw1dvCo+1XmMCVi
WS/ZRkLq9KdS6+FGyX2n6VtHEyfqai9194JblZ/08XmqHxLj1R7LpeZQdtV0IayHIMKrXlOyGuUz
j/sisXiLXIWh6MC8y1DuAhukhrwE+3PP4KtgJzSNn7poIohFnY5iVyvBods7SCjebN/5PODTqqPY
Uk+CFb6nJgtqqd8vxYm5XdUPCZB2DNnq5/JE7qdPBr/UC5PXKg/3jfikmhr08zvbsAmlzLvpajS2
InbhETX5NnJyWCohNZwwhW4ty0jL+8hKeG9lniK2tkEFBkAv6sxmt5iTmkCcpJ+1dYdml2kdnB8H
1opCoRh0J6km5iZnREtOAQ32bSI9aWxk5tKLZSQmh3ejSG35AaonvRNGQvLKr9Wx1o5pasiPQBBj
hyfb8sUe7QK0dQzFp1/XogO7EhcDe82xmoHwThgzcAaGG2ygvTPi0ZregalC1kHlxRf0zRg44Jjz
UsiLGTJhTI3/UY+vtcaainORhQH0W8ImxRrDXrtF7OBTL4u2/gCOG7Xb5HqnSiiwOJGP8/HYzLhq
7Mp17/WyyLn8x8qip0GP9L218GWrdmbN/kfC+xMSHsLaH0t4p5lcoDy+ifZ3VDz+5RdsgfsTBx99
zjVYLvQeB33vi4yn/2Tr2I6xg7CTmUHX38h45k+2qdMkzzkb+Q/3xlcRj9J6djwYTGBTz3xs+08Z
RWZL9PdeZaCn/J/fo+KL5D++F/Emb6wyakNQwTJNVzaihCW/brO8vE5gl92AAY2IIfbIWswycnkd
Ii5cDm4sL+tC8a7UWEHDLqu6vsRsNrUMY4GBbgehwx2M1Xq6nuxKMpmhOs0vBwdnJ5hJ7RFtg7RV
Gdg3aWx5D6jY0Fq4Aa51GQU5AKdSey+aXmPmCipuDfRS4dtlaITlRe23SmKeIcuw/tqx9Vy5Ebjh
UfY7hCfWIEy86aEwVWsLv374kGH25HBlyhuokYjlcFfik6Ux9C0oIgtXNnnBS6P2AKcCAr8itpWd
hW4fXwyZ0glYwXMLdxC47zbotCdtoKld0bt+eGbZsl+nztGfuqbqrzrGr4HfCIeRLki27l2v8okc
g0PWzi97CzdM3Q/Ywzgbs0cI+kI+Q0rTvPOUbtl7AvTehwjnDpkSdoWcxmhO/EC9jjFuU3pdgUbZ
UVPM2p6zhppWejuZQ8M9daZB39uYkSvxZIyLwo3tCtDEWE6fjBYKOzd2C6JgXsUMt2NBbGYbFIYo
OUYM4WteJAZDTMJM7J3CFo8iyRVxolURgDX1I2GwiUOZdbelZTnRuc4ohzsg3NYD6Ds4zaaRyUtk
j5IFbQY5QyzTaWoZYkYM8cJ6FgO9Qb67MKBrkBPNtlzY0DVKZrEhpKJyVbBn6bBU1nazrRaudB6p
MKYJnufalQjUzoSsuHCooVcNJOtDqmVru7aS19CuevU+oJ8OV3s486zTiXasXb9wrl13BmYarKq0
e8uZhR2F88gsVGmUXIkmLDgz04I87Wu1GdgaLExtd8ZrdxVOGR+N0anPXaKPxTE2gHHHM5Y7pcgC
ryz+VDTHhdzdzBDvoU7MYJtOevSYeHpED7haw9ChuhaKW8wenVEPxad+B1T8Nha9e88/5s4etTiH
GClT7gdmyF7pyypQzQtCEEu2LdG8TEzLisG2kNWDotJ5JZkXFVgbrC8izWtmO8u6IzlCjpspAjmw
05e1ycZAHPsjNUjBRqXHN1qVy1pWG3l5ZPYaqNDK9RAgnqTziaDWvApS1MaKqNql/Dgq2IyOhKVY
M+Nl/STnxlpqLuvquKyx6rLeqk09vHXlpIuDroHU4mlgR0WHtCrOmizZXDus3tWyksPpocyMVKS9
gRDHWg+rgXU/XvYA9rIfyMRYnOw6dOtdbVUlbZ5antPuJkfC7zoL9OGbDua4K4H9Mp3XJuuKe0Jx
imqHpnWXQi4z04OPYTJCmIcLo1B5CQruTgUK9I6/tLwvLDPoG8zUfUTuIJybmqux7Z+Mgbn0uqMf
UDtowB1eh8xr+AX4zp7CEDKzme48oyGC5H4s8CD43BPulIijkEZPSky33CEn5/mijPWlpRuHvv8U
ZNmttKqjXkV00vV7pU12wLtOShMBWXr0jA+6m20RXs7y3jvCKfu2CJr7B51MkVB3say3DB6qfWYp
5zWQMsiIa8UV10WLzmii428dvd5UY0FRUNKdstzlVYKFImDY9A3EMfSQ1Vgzb0CDfdRlwj+HbQhy
7iVnxooe+uPyaLvD3a1O6aOggBXatGpvIi3E02FhTNipQtwFYKt5T79WSXO3gLmcI3maa0UHeLqq
dd30cRMnkKRHKzl2S7W0WjbS9UsDf/wl201auFQOj4bDWJjO0ruKQ3coxK4TlLwQ9T9QL01uW3Pu
nCbY/FI+7QiXbj3XfhjaIqf5TtUGv1VpoTYU8XFATDwkXp5fLW3U+HBuugyomGQCv0L8t2+Qby+j
0D3WJjHeoex8kQTFuVVXGzcJKKv0pHqRWWAEf7ewWjMiqhRK+0gG293YSSwvPOGIVdo5CA1Lf7VF
rAdwn+7BHOTt9loMbb2Vug/d3Esm2FfsTFc//LrWuoqN6QFuY4SQ1j5A18h3BK6Hu9+ruI77FHho
aojCFzPCLxk4EsLJNWCUmtNxabzuLcXcyl41D4oXOY+FC+oTezTuTe9MN0pKqU2yEEy0tSYYbxrq
qFtduQmM9u0f12JHMR+chbRyxDXvrGzKHrKQWlEs7kdoi2Lb2GO0ATkwHPkM9R0ZGRW4J7ozBAFW
c8uc9sYsm2luc0gNWmtFXRvrKO67a2HjSsGYg6pAdXZRAkW2QkqS2IzRCEuzaFq16RMYswvHkhsm
fNfTXKNdpbV7j6so3n2t0Y7j9L2ZHABlNGkPEV7P0rxGHr3myyHOcPCT5q5ryrTn1koUp7TbRQLS
eBNF6MzeCUZgeGHNGQdUinzcExE9Whyo+j476RYH3GSynbWrtN7DCMUKW8iVUadn40iueCIcSiU5
joDSPk0Je5Z0lCjlhqE1Ozlp6haGQ79O1TRYAXoZ9kqgNPdgi/eRUdE2QiPWL93cnInX9mTjm4D1
1LDcQlAZKYxI7IxO5qZ9QMRJt0tZdyjd8MnU35a+7jRvFBRameKXJSJ6FYjcxrIZIwg76hXFI7TH
AiPwJfCRANzoNkWJusRRw7c5FzTApx0iAlDbgyJ65bo1UvPjUutNCKwCnBtEOcZMQy1WTIgPX/u9
G60oT1h6yScHrjix3DM6Ze3wniAlq9ss6ow/qPh2W00/l10bPMghRojOKX9ODCe66LuWPY8Q+lsV
qlTAO2LPffaJDg3lMeVLU/th15l7QQZ0g7XDWrvAdzETN1O4WfrBC2lSQoori2rXHGWh57+sMr3F
YTjtG0sVa096l3bpPivmjMRJ2KUA7mH+E1xm5ozNCUId1lNjx7G9zhaoDk3OAHbcIa0ZS5JfInui
DESSqpnB03tGed9NsoabpNtQCaFMgulRk1T9MDRJEV9PM8fHWpA+ldfqydrBt5GfQaui6buwxzo5
j2ZclW8sJKBmoQI5GbcErin70XOaDJyuMzJZj1w0gZWCE5gM98CG5SKAT5Wyv3caQhuR/jLgDE59
Y0EQsZ+pDzqFU/1qbDvlk1xIRfFCLerjutI3DVqf5U8L08ia8UYMpgCmOzP0iHFhjt3KjVjnN3CJ
qhs8rMGe8GaTgeybeUldoOa3Q1szdq2YPiGRLIQlzOoNSM2FvBSU00xhilE/9sNCZ6I3FBBazzA5
PVQDaSY/DaWHNvgZ7CQKwRZ0AT5FC/xJJ+Zo+iMmK7mjL1uwLUemVMlC5+NL6KY2ZsnMg8yuSVnt
zK7geigTPBG7DiR56FcLdwoZEgbVnz9iX8QvTSnK9/a/5/qpl7IaGxAQ7VI28ct/3ZWUEOc//Ct/
+EDfPa74+/IglI3NzU3f/cdmOR1fd2/NePMmuozn8KURa/6rv/kpj/S5tWz+6VVJ0cBd+a/9pR8/
0F/e/sSp/dcZj+V5LS/pRw+TPbdx272+/e2vCjliZ6780I0lE8wp/K9/yWCNf/m5oc4/1k3NIsCB
PvDNG/RHb8GPX93P7/SP3srvnvpL2RXt/AnRCF58qz5gF1qe0q8e6bcv/leP8P2LB4mIYjE3oXzz
qnXrJ1xFmql7RFr+T17182seI4eJtolffkdzcX9dSfbnP3f7J021dZtxxZwF//XnzmWBFOM4qoWI
8v/yHeA6/U6v+tPvgGH8pKIv8tmDxpz/xyv99hpQf7K56lWYmv/8O/BPfD2+3kZWUZy9LjeQ+E18
cxf6h3/h5y/Ybx/gyxdnRorO347v/uJcdff5oX+5v/z9u8ts+XJ/88Ofv+zL7/nyz7+8wN/+6u9+
18+v6uc/3MdvzXPzAppyubV9eZqn55w70LZ5e/vLbfvcvn335TZBh/38B/Pv/ttfv3uu33z4P3rw
zbNo35riL6vn6ruH55qHq+rw7f7l9f5rv+HiH3Ec/vhm/vXy/dEr+Gdyev/mr1jE3R+8S1z//+67
9GML6P/G8/+ROP1vPv6PGx7/zQefNfU/fu9d7nI/fu9/7wv5dZn+7df05+X39/7Z9/eg+W+8ZG/P
zd//BwAA//8=</cx:binary>
              </cx:geoCache>
            </cx:geography>
          </cx:layoutPr>
        </cx:series>
      </cx:plotAreaRegion>
    </cx:plotArea>
  </cx:chart>
  <cx:spPr>
    <a:noFill/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4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dk1">
            <a:lumMod val="50000"/>
            <a:lumOff val="50000"/>
          </a:schemeClr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496">
  <cs:axisTitle>
    <cs:lnRef idx="0"/>
    <cs:fillRef idx="0"/>
    <cs:effectRef idx="0"/>
    <cs:fontRef idx="minor">
      <a:schemeClr val="lt1">
        <a:lumMod val="95000"/>
      </a:schemeClr>
    </cs:fontRef>
    <cs:defRPr sz="900"/>
  </cs:axisTitle>
  <cs:category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</cs:spPr>
    <cs:defRPr sz="1000"/>
  </cs:chartArea>
  <cs:dataLabel>
    <cs:lnRef idx="0"/>
    <cs:fillRef idx="0"/>
    <cs:effectRef idx="0"/>
    <cs:fontRef idx="minor">
      <a:schemeClr val="lt1">
        <a:lumMod val="95000"/>
      </a:schemeClr>
    </cs:fontRef>
    <cs:defRPr sz="85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3175">
        <a:solidFill>
          <a:schemeClr val="dk1">
            <a:lumMod val="65000"/>
            <a:lumOff val="35000"/>
          </a:schemeClr>
        </a:solidFill>
      </a:ln>
    </cs:spPr>
  </cs:dataPoint>
  <cs:dataPoint3D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</cs:spPr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lt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9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10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95000"/>
      </a:schemeClr>
    </cs:fontRef>
    <cs:defRPr sz="9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lt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95000"/>
      </a:schemeClr>
    </cs:fontRef>
    <cs:defRPr sz="9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95000"/>
      </a:schemeClr>
    </cs:fontRef>
    <cs:defRPr sz="9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924F-35B9-BD2C-5AF7-CEA2F3693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778E1-8C3F-7A48-86A5-7FBC7B6C1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A2B5A-9B2C-0C57-860D-6B26838B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64DE1-C66F-4329-850F-C93040FCB62A}" type="datetimeFigureOut">
              <a:rPr lang="en-ZA" smtClean="0"/>
              <a:t>18/04/2026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F490A-3E39-0632-AD48-D5E0BB140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30798-5911-4158-FF1F-5234AC485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AEEF-6297-4090-9AF8-AAC5FEE1ECE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23441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1B6F0-8A51-3952-1C59-A998299E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19517-2D93-62F1-7C8C-437ED6DFC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DC1FE-18AB-D696-54B8-227E0AAE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64DE1-C66F-4329-850F-C93040FCB62A}" type="datetimeFigureOut">
              <a:rPr lang="en-ZA" smtClean="0"/>
              <a:t>18/04/2026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34736-E1AA-A995-FB59-883D018E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0CCE9-DBCF-4BED-5A07-F663DC6C2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AEEF-6297-4090-9AF8-AAC5FEE1ECE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66358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3316A-2C6C-BD1C-B91C-32F49D716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A7B44-83CB-BEEC-06EA-83ACF6F5E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1E4FC-CC22-6C88-5EA5-BF4189A32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64DE1-C66F-4329-850F-C93040FCB62A}" type="datetimeFigureOut">
              <a:rPr lang="en-ZA" smtClean="0"/>
              <a:t>18/04/2026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3D4D6-9E94-C180-FAAD-00C8560B9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FAB8B-6383-AA6A-13ED-14F6F5420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AEEF-6297-4090-9AF8-AAC5FEE1ECE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1206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7424-138B-4835-61F5-D687FEED7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BC6B3-4AB6-4523-05F5-1A56CC6FA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32E25-31CE-C74E-4CB5-21BD707B3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1E910-55A0-6743-9195-10EF6C48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64DE1-C66F-4329-850F-C93040FCB62A}" type="datetimeFigureOut">
              <a:rPr lang="en-ZA" smtClean="0"/>
              <a:t>18/04/2026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2F4E7-9E3F-0363-BD43-56C38CAF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2EA2C-AC44-5889-8921-DCDD63151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AEEF-6297-4090-9AF8-AAC5FEE1ECE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8114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D7E8-963F-45BA-7968-4B3BFCAD7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6B7B2-FBFA-D4E8-16D8-7C62AECD2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1B6A9-40B6-9F77-EB89-98DAFC0BB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54254-3B4D-ECCB-F93F-90F7547CF4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DD89E2-548A-B279-8CC3-C1AEBB2F93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E12069-DA74-B9CD-9F0A-7855E4537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64DE1-C66F-4329-850F-C93040FCB62A}" type="datetimeFigureOut">
              <a:rPr lang="en-ZA" smtClean="0"/>
              <a:t>18/04/2026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40D03-DA54-7FFE-275E-5EC05403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E48284-001D-7095-B78C-5DB93257B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AEEF-6297-4090-9AF8-AAC5FEE1ECE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648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CB90-8D0C-40FF-8073-79986898B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620B3D-51E3-38A7-6EF2-3DE266144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64DE1-C66F-4329-850F-C93040FCB62A}" type="datetimeFigureOut">
              <a:rPr lang="en-ZA" smtClean="0"/>
              <a:t>18/04/2026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7C8C8-706E-EA15-0F10-AA91E40FB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5A8FB-610B-8A22-DDC8-6E0C8D63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AEEF-6297-4090-9AF8-AAC5FEE1ECE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930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6DD166-7431-13E8-BE0F-07D82B2E6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64DE1-C66F-4329-850F-C93040FCB62A}" type="datetimeFigureOut">
              <a:rPr lang="en-ZA" smtClean="0"/>
              <a:t>18/04/2026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DC80F8-4FD2-39D7-5C35-4EFB295CF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42682-D321-5F7D-0BC1-FED8410EE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AEEF-6297-4090-9AF8-AAC5FEE1ECE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99825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35685-9133-EF86-7A18-E7B8F642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C4CB9-5579-FA44-5F56-68A674814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D6998-5D63-C67E-F580-D4DE2E8B3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92C16-4C45-70DE-32E5-CD9B91FB1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64DE1-C66F-4329-850F-C93040FCB62A}" type="datetimeFigureOut">
              <a:rPr lang="en-ZA" smtClean="0"/>
              <a:t>18/04/2026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CD075-06E8-5174-EE13-C45F8C622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FC73E-D3A0-238C-E9DF-7BE0EF37E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AEEF-6297-4090-9AF8-AAC5FEE1ECE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025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976D9-459D-AA5F-65B2-DE691993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CECF58-5FC2-9DF8-DA93-8C5D721219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4C3F4-F974-247D-5F24-65E3BD4C6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34554-0DF0-81BB-CF0C-0CA113B00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64DE1-C66F-4329-850F-C93040FCB62A}" type="datetimeFigureOut">
              <a:rPr lang="en-ZA" smtClean="0"/>
              <a:t>18/04/2026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877BC-342D-DA79-DC69-11F3DD8EB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36D22-EE97-206E-A937-B5845C117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AEEF-6297-4090-9AF8-AAC5FEE1ECE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6427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9F3D6-EDA9-4D14-AEBC-59648B07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6E6C5-6C45-1CB4-AE0B-52693B272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BD873-EF88-3C52-CD28-42B4A1F49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64DE1-C66F-4329-850F-C93040FCB62A}" type="datetimeFigureOut">
              <a:rPr lang="en-ZA" smtClean="0"/>
              <a:t>18/04/2026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59C9D-1ACF-E84A-C6DC-9818FCA5D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B140B-145F-D6AA-2F51-3C13F425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AEEF-6297-4090-9AF8-AAC5FEE1ECE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1637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F027E3-1DB0-CD11-30C7-32DB27A336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BE2BC-EF84-8FB4-162C-51DEBE0DA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6D3F2-62E2-8A81-5FE8-C454C77A9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64DE1-C66F-4329-850F-C93040FCB62A}" type="datetimeFigureOut">
              <a:rPr lang="en-ZA" smtClean="0"/>
              <a:t>18/04/2026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D9D01-4D5E-99E8-202C-3B5639283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C19B7-ACFA-46CB-36E0-25CADD3F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AEEF-6297-4090-9AF8-AAC5FEE1ECE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1438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212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13000"/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F37CD-4D96-A709-6104-82FDCA38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71DFB-870A-2B6F-C22F-9F2C4056F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A6DC-A8C3-4511-75EE-7847B408A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664DE1-C66F-4329-850F-C93040FCB62A}" type="datetimeFigureOut">
              <a:rPr lang="en-ZA" smtClean="0"/>
              <a:t>18/04/2026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25E2A-7558-789C-CF94-F3111C9EB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25AE6-F26B-E111-A535-0865C6521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6AEEF-6297-4090-9AF8-AAC5FEE1ECE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2907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608C23-AAC7-24F5-F2C0-159F3F981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4" y="639097"/>
            <a:ext cx="4789678" cy="37466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>
                <a:solidFill>
                  <a:schemeClr val="tx1"/>
                </a:solidFill>
              </a:rPr>
              <a:t>Bright TV Audience Intelligence Report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DE37C8C-B9EB-77D8-9402-9E66A29BE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4" y="4385732"/>
            <a:ext cx="4813437" cy="18380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cap="all" dirty="0">
                <a:solidFill>
                  <a:schemeClr val="tx1"/>
                </a:solidFill>
                <a:latin typeface="+mn-lt"/>
              </a:rPr>
              <a:t>Subscriber Profiling, Spatial distribution and strategic growth vectors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80849B1-1F47-6CB1-7034-ECAA9B32E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5101" y="973859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4208-25FD-00FA-8A24-D9CB189C1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58" y="134562"/>
            <a:ext cx="11012021" cy="806915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GB" sz="4000" cap="none" dirty="0">
                <a:solidFill>
                  <a:schemeClr val="tx1"/>
                </a:solidFill>
              </a:rPr>
              <a:t>Executive Summary: The macro truths</a:t>
            </a:r>
            <a:endParaRPr lang="en-ZA" sz="4000" cap="none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0B7B8-7567-C725-4518-153DCF768BC6}"/>
              </a:ext>
            </a:extLst>
          </p:cNvPr>
          <p:cNvSpPr txBox="1"/>
          <p:nvPr/>
        </p:nvSpPr>
        <p:spPr>
          <a:xfrm>
            <a:off x="566569" y="1245870"/>
            <a:ext cx="2919581" cy="53771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ZA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334C6BD-A7DB-29A2-E81D-5B4FA291C4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304762"/>
              </p:ext>
            </p:extLst>
          </p:nvPr>
        </p:nvGraphicFramePr>
        <p:xfrm>
          <a:off x="258421" y="1367623"/>
          <a:ext cx="3413869" cy="30135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B304F8B-35C4-7103-F848-3322A7F8127E}"/>
              </a:ext>
            </a:extLst>
          </p:cNvPr>
          <p:cNvSpPr txBox="1"/>
          <p:nvPr/>
        </p:nvSpPr>
        <p:spPr>
          <a:xfrm>
            <a:off x="4265251" y="1245869"/>
            <a:ext cx="2919581" cy="53771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ZA" dirty="0"/>
          </a:p>
        </p:txBody>
      </p:sp>
      <mc:AlternateContent xmlns:mc="http://schemas.openxmlformats.org/markup-compatibility/2006">
        <mc:Choice xmlns:cx4="http://schemas.microsoft.com/office/drawing/2016/5/10/chartex" Requires="cx4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D039DDEA-8EA7-28D8-92D3-F3292089056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569394453"/>
                  </p:ext>
                </p:extLst>
              </p:nvPr>
            </p:nvGraphicFramePr>
            <p:xfrm>
              <a:off x="4122844" y="1367623"/>
              <a:ext cx="3204394" cy="290222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D039DDEA-8EA7-28D8-92D3-F3292089056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2844" y="1367623"/>
                <a:ext cx="3204394" cy="2902227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9A83616-AC77-8CAA-4016-A0566BB8D955}"/>
              </a:ext>
            </a:extLst>
          </p:cNvPr>
          <p:cNvSpPr txBox="1"/>
          <p:nvPr/>
        </p:nvSpPr>
        <p:spPr>
          <a:xfrm>
            <a:off x="4482410" y="5153062"/>
            <a:ext cx="27024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The Big Three.</a:t>
            </a:r>
          </a:p>
          <a:p>
            <a:r>
              <a:rPr lang="en-GB" sz="1400" dirty="0"/>
              <a:t>Gauteng, Western Cape, and KwaZulu-Natal absolutely dominate the verified subscriber footprint.</a:t>
            </a:r>
            <a:endParaRPr lang="en-ZA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6BE76-37CE-6650-23F6-44945AF0B49F}"/>
              </a:ext>
            </a:extLst>
          </p:cNvPr>
          <p:cNvSpPr txBox="1"/>
          <p:nvPr/>
        </p:nvSpPr>
        <p:spPr>
          <a:xfrm>
            <a:off x="783728" y="5027354"/>
            <a:ext cx="27024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The Urban Millennial Core.</a:t>
            </a:r>
          </a:p>
          <a:p>
            <a:r>
              <a:rPr lang="en-GB" sz="1400" dirty="0"/>
              <a:t>Viewership is heavily consolidated in the 25-45 age bracket, characterised by high social media connectivity.</a:t>
            </a:r>
            <a:endParaRPr lang="en-ZA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A42301-61BA-B187-FBB0-AD59F75E5107}"/>
              </a:ext>
            </a:extLst>
          </p:cNvPr>
          <p:cNvSpPr txBox="1"/>
          <p:nvPr/>
        </p:nvSpPr>
        <p:spPr>
          <a:xfrm>
            <a:off x="8062519" y="1245869"/>
            <a:ext cx="2919581" cy="53771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ZA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715BC2B-E4F7-022B-37A5-88CEECEA5A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467" y="1754418"/>
            <a:ext cx="2919581" cy="24516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7E40889-7A55-0149-0337-35D79F84BA10}"/>
              </a:ext>
            </a:extLst>
          </p:cNvPr>
          <p:cNvSpPr txBox="1"/>
          <p:nvPr/>
        </p:nvSpPr>
        <p:spPr>
          <a:xfrm>
            <a:off x="8235467" y="1446641"/>
            <a:ext cx="25736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The Data Hygiene Challenge</a:t>
            </a:r>
            <a:endParaRPr lang="en-ZA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EA9723-1257-A647-C973-D52A7EBD100E}"/>
              </a:ext>
            </a:extLst>
          </p:cNvPr>
          <p:cNvSpPr txBox="1"/>
          <p:nvPr/>
        </p:nvSpPr>
        <p:spPr>
          <a:xfrm>
            <a:off x="8235467" y="5299611"/>
            <a:ext cx="27024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The Ghost Viewer Anomaly</a:t>
            </a:r>
          </a:p>
          <a:p>
            <a:r>
              <a:rPr lang="en-GB" sz="1400" dirty="0"/>
              <a:t>A massive segment of registered emails lacks associated age, gender and friction for monetization.</a:t>
            </a:r>
            <a:endParaRPr lang="en-ZA" sz="1400" dirty="0"/>
          </a:p>
        </p:txBody>
      </p:sp>
    </p:spTree>
    <p:extLst>
      <p:ext uri="{BB962C8B-B14F-4D97-AF65-F5344CB8AC3E}">
        <p14:creationId xmlns:p14="http://schemas.microsoft.com/office/powerpoint/2010/main" val="1568352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E989C8-48B4-C1D5-7321-B83C9E362F3C}"/>
              </a:ext>
            </a:extLst>
          </p:cNvPr>
          <p:cNvSpPr txBox="1"/>
          <p:nvPr/>
        </p:nvSpPr>
        <p:spPr>
          <a:xfrm>
            <a:off x="1744070" y="1604176"/>
            <a:ext cx="8931018" cy="36270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631047-5802-8409-33A0-50B678B68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423" y="352640"/>
            <a:ext cx="7152035" cy="788283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600" cap="none" dirty="0">
                <a:solidFill>
                  <a:schemeClr val="tx1"/>
                </a:solidFill>
              </a:rPr>
              <a:t>The Generational Divide</a:t>
            </a:r>
            <a:endParaRPr lang="en-ZA" sz="3600" cap="none" dirty="0">
              <a:solidFill>
                <a:schemeClr val="tx1"/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42B4032-7323-B6B5-5FE5-4664384203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8821560"/>
              </p:ext>
            </p:extLst>
          </p:nvPr>
        </p:nvGraphicFramePr>
        <p:xfrm>
          <a:off x="1304425" y="1604175"/>
          <a:ext cx="8817439" cy="36270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E979B7B-8B0E-6925-E8A7-4AA0EA878CCD}"/>
              </a:ext>
            </a:extLst>
          </p:cNvPr>
          <p:cNvSpPr txBox="1"/>
          <p:nvPr/>
        </p:nvSpPr>
        <p:spPr>
          <a:xfrm>
            <a:off x="1304425" y="5557099"/>
            <a:ext cx="881744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Bright TV’s heartbeat is the 25-45 demographic. This generational concentration provides a highly addressable target for lifestyle and tech-forward ad placements.</a:t>
            </a:r>
            <a:endParaRPr lang="en-ZA" dirty="0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8C4C3D37-9ABE-507B-3FA9-3036190EC77F}"/>
              </a:ext>
            </a:extLst>
          </p:cNvPr>
          <p:cNvSpPr/>
          <p:nvPr/>
        </p:nvSpPr>
        <p:spPr>
          <a:xfrm>
            <a:off x="6719777" y="2668772"/>
            <a:ext cx="1782395" cy="956930"/>
          </a:xfrm>
          <a:prstGeom prst="wedgeRectCallout">
            <a:avLst>
              <a:gd name="adj1" fmla="val 96650"/>
              <a:gd name="adj2" fmla="val -51945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9B9D2D-D374-6A64-0051-67B1D9498573}"/>
              </a:ext>
            </a:extLst>
          </p:cNvPr>
          <p:cNvSpPr txBox="1"/>
          <p:nvPr/>
        </p:nvSpPr>
        <p:spPr>
          <a:xfrm>
            <a:off x="6719777" y="2806995"/>
            <a:ext cx="1871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The Engine: Ages 25-35 from the steepest engagement curve.</a:t>
            </a:r>
            <a:endParaRPr lang="en-ZA" sz="1200" b="1" dirty="0"/>
          </a:p>
        </p:txBody>
      </p:sp>
    </p:spTree>
    <p:extLst>
      <p:ext uri="{BB962C8B-B14F-4D97-AF65-F5344CB8AC3E}">
        <p14:creationId xmlns:p14="http://schemas.microsoft.com/office/powerpoint/2010/main" val="2545641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97C6-537C-BEF5-EE44-9FCB145B5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764" y="294747"/>
            <a:ext cx="7152035" cy="789764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tx1"/>
                </a:solidFill>
              </a:rPr>
              <a:t>The Diversity of viewership</a:t>
            </a:r>
            <a:endParaRPr lang="en-ZA" sz="40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02BE3-5848-1E55-93FE-BA5662358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764" y="5560829"/>
            <a:ext cx="10919637" cy="680484"/>
          </a:xfrm>
          <a:solidFill>
            <a:schemeClr val="bg1"/>
          </a:solidFill>
          <a:ln>
            <a:solidFill>
              <a:schemeClr val="accent2"/>
            </a:solidFill>
          </a:ln>
        </p:spPr>
        <p:txBody>
          <a:bodyPr/>
          <a:lstStyle/>
          <a:p>
            <a:pPr algn="l"/>
            <a:r>
              <a:rPr lang="en-GB" dirty="0">
                <a:solidFill>
                  <a:schemeClr val="tx1"/>
                </a:solidFill>
              </a:rPr>
              <a:t>A highly diverse, multi-cultural footprint. Marketing vectors must reflect this broad South African reality rather than defaulting to monolithic messaging.</a:t>
            </a:r>
            <a:endParaRPr lang="en-ZA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ED875E9-3961-FC87-FEC3-5DC8982204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2381901"/>
              </p:ext>
            </p:extLst>
          </p:nvPr>
        </p:nvGraphicFramePr>
        <p:xfrm>
          <a:off x="612764" y="1701209"/>
          <a:ext cx="5263115" cy="3455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8FB872D-CDC9-D623-597E-5214DF5FAB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0765636"/>
              </p:ext>
            </p:extLst>
          </p:nvPr>
        </p:nvGraphicFramePr>
        <p:xfrm>
          <a:off x="6592057" y="1701209"/>
          <a:ext cx="4940344" cy="3455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89729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22CA-D009-3320-27E9-47FC4B56D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806" y="496766"/>
            <a:ext cx="9254250" cy="839972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GB" sz="4000" cap="none" dirty="0">
                <a:solidFill>
                  <a:schemeClr val="tx1"/>
                </a:solidFill>
              </a:rPr>
              <a:t>Geographic Density: The Core Markets</a:t>
            </a:r>
            <a:endParaRPr lang="en-ZA" sz="4000" cap="none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30A300-6E60-68F0-ACAB-8C1FD9744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9267" y="1825847"/>
            <a:ext cx="3385516" cy="839972"/>
          </a:xfrm>
          <a:ln>
            <a:solidFill>
              <a:schemeClr val="accent2"/>
            </a:solidFill>
          </a:ln>
        </p:spPr>
        <p:txBody>
          <a:bodyPr>
            <a:normAutofit fontScale="85000" lnSpcReduction="10000"/>
          </a:bodyPr>
          <a:lstStyle/>
          <a:p>
            <a:pPr algn="l"/>
            <a:r>
              <a:rPr lang="en-GB" dirty="0">
                <a:solidFill>
                  <a:schemeClr val="tx1"/>
                </a:solidFill>
              </a:rPr>
              <a:t>Gauteng</a:t>
            </a:r>
          </a:p>
          <a:p>
            <a:pPr algn="l"/>
            <a:r>
              <a:rPr lang="en-GB" b="0" dirty="0">
                <a:solidFill>
                  <a:schemeClr val="tx1"/>
                </a:solidFill>
              </a:rPr>
              <a:t>The Anchor Hub, Massive density.</a:t>
            </a:r>
            <a:endParaRPr lang="en-ZA" b="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B85119-4A0E-F3B8-A995-51CF23944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931" y="1144511"/>
            <a:ext cx="7825084" cy="5216723"/>
          </a:xfrm>
          <a:prstGeom prst="rect">
            <a:avLst/>
          </a:prstGeom>
        </p:spPr>
      </p:pic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0B42298A-C16E-D438-1DC7-2F811BE03BFD}"/>
              </a:ext>
            </a:extLst>
          </p:cNvPr>
          <p:cNvSpPr/>
          <p:nvPr/>
        </p:nvSpPr>
        <p:spPr>
          <a:xfrm>
            <a:off x="8920717" y="4954772"/>
            <a:ext cx="552893" cy="535739"/>
          </a:xfrm>
          <a:prstGeom prst="flowChartConnector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A6196D6-5C0A-DCCD-EEF7-4A576F9BDDC3}"/>
              </a:ext>
            </a:extLst>
          </p:cNvPr>
          <p:cNvSpPr txBox="1">
            <a:spLocks/>
          </p:cNvSpPr>
          <p:nvPr/>
        </p:nvSpPr>
        <p:spPr>
          <a:xfrm>
            <a:off x="1059267" y="3229946"/>
            <a:ext cx="3385516" cy="83997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>
                <a:solidFill>
                  <a:schemeClr val="tx1"/>
                </a:solidFill>
              </a:rPr>
              <a:t>Western Cape</a:t>
            </a:r>
          </a:p>
          <a:p>
            <a:pPr algn="l"/>
            <a:r>
              <a:rPr lang="en-GB" b="0" dirty="0">
                <a:solidFill>
                  <a:schemeClr val="tx1"/>
                </a:solidFill>
              </a:rPr>
              <a:t>The Coastal Stronghold</a:t>
            </a:r>
            <a:endParaRPr lang="en-ZA" b="0" dirty="0">
              <a:solidFill>
                <a:schemeClr val="tx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6B8E886-6424-250F-AB13-B55E37071C31}"/>
              </a:ext>
            </a:extLst>
          </p:cNvPr>
          <p:cNvSpPr txBox="1">
            <a:spLocks/>
          </p:cNvSpPr>
          <p:nvPr/>
        </p:nvSpPr>
        <p:spPr>
          <a:xfrm>
            <a:off x="1025632" y="4559027"/>
            <a:ext cx="3385516" cy="83997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>
                <a:solidFill>
                  <a:schemeClr val="tx1"/>
                </a:solidFill>
              </a:rPr>
              <a:t>KwaZulu-Natal</a:t>
            </a:r>
          </a:p>
          <a:p>
            <a:pPr algn="l"/>
            <a:r>
              <a:rPr lang="en-GB" b="0" dirty="0">
                <a:solidFill>
                  <a:schemeClr val="tx1"/>
                </a:solidFill>
              </a:rPr>
              <a:t>The Eastern Pillar</a:t>
            </a:r>
            <a:endParaRPr lang="en-ZA" b="0" dirty="0">
              <a:solidFill>
                <a:schemeClr val="tx1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B2CCA7D-1822-F814-8464-F2E8F6F5B9D0}"/>
              </a:ext>
            </a:extLst>
          </p:cNvPr>
          <p:cNvSpPr txBox="1">
            <a:spLocks/>
          </p:cNvSpPr>
          <p:nvPr/>
        </p:nvSpPr>
        <p:spPr>
          <a:xfrm>
            <a:off x="609300" y="5829606"/>
            <a:ext cx="10973399" cy="5357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dirty="0">
                <a:solidFill>
                  <a:schemeClr val="tx1"/>
                </a:solidFill>
              </a:rPr>
              <a:t>Current penetration heavily mirrors South Africa’s primary economic and urban corridors.</a:t>
            </a:r>
            <a:endParaRPr lang="en-ZA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86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AF0FB-4DDC-E572-9A74-46FE2CD3A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6" y="610784"/>
            <a:ext cx="7152035" cy="75786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600" cap="none" dirty="0">
                <a:solidFill>
                  <a:schemeClr val="tx1"/>
                </a:solidFill>
              </a:rPr>
              <a:t>Whitespace Expansion Matrix</a:t>
            </a:r>
            <a:endParaRPr lang="en-ZA" sz="3600" cap="none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ABD20-D473-E7C0-0F6F-D498C1C8A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830" y="6071198"/>
            <a:ext cx="9399806" cy="706726"/>
          </a:xfrm>
          <a:solidFill>
            <a:schemeClr val="bg1"/>
          </a:solidFill>
          <a:ln>
            <a:solidFill>
              <a:schemeClr val="accent2"/>
            </a:solidFill>
          </a:ln>
        </p:spPr>
        <p:txBody>
          <a:bodyPr>
            <a:normAutofit/>
          </a:bodyPr>
          <a:lstStyle/>
          <a:p>
            <a:pPr algn="l"/>
            <a:r>
              <a:rPr lang="en-GB" sz="1800" dirty="0">
                <a:solidFill>
                  <a:schemeClr val="tx1"/>
                </a:solidFill>
              </a:rPr>
              <a:t>While Gauteng provides stability, the next aggressive subscriber acquisition campaign should target untapped regional potential of Limpopo. Free State, and Mpumalanga</a:t>
            </a:r>
            <a:endParaRPr lang="en-ZA" sz="18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DB2D53-4823-8BEB-D8C5-8ABC585D8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782183"/>
              </p:ext>
            </p:extLst>
          </p:nvPr>
        </p:nvGraphicFramePr>
        <p:xfrm>
          <a:off x="2162545" y="1691803"/>
          <a:ext cx="7456376" cy="4056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4">
                  <a:extLst>
                    <a:ext uri="{9D8B030D-6E8A-4147-A177-3AD203B41FA5}">
                      <a16:colId xmlns:a16="http://schemas.microsoft.com/office/drawing/2014/main" val="1470048125"/>
                    </a:ext>
                  </a:extLst>
                </a:gridCol>
                <a:gridCol w="3330199">
                  <a:extLst>
                    <a:ext uri="{9D8B030D-6E8A-4147-A177-3AD203B41FA5}">
                      <a16:colId xmlns:a16="http://schemas.microsoft.com/office/drawing/2014/main" val="3522213706"/>
                    </a:ext>
                  </a:extLst>
                </a:gridCol>
                <a:gridCol w="3738163">
                  <a:extLst>
                    <a:ext uri="{9D8B030D-6E8A-4147-A177-3AD203B41FA5}">
                      <a16:colId xmlns:a16="http://schemas.microsoft.com/office/drawing/2014/main" val="4083213642"/>
                    </a:ext>
                  </a:extLst>
                </a:gridCol>
              </a:tblGrid>
              <a:tr h="1848299">
                <a:tc rowSpan="3"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Growth Potential</a:t>
                      </a:r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Ctr="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982193"/>
                  </a:ext>
                </a:extLst>
              </a:tr>
              <a:tr h="1842182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311892"/>
                  </a:ext>
                </a:extLst>
              </a:tr>
              <a:tr h="336589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Current Penetration (User Volume)</a:t>
                      </a:r>
                      <a:endParaRPr lang="en-ZA" b="1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4732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E0B3D90-5B45-653D-7DAC-9B5E528BBB27}"/>
              </a:ext>
            </a:extLst>
          </p:cNvPr>
          <p:cNvSpPr txBox="1"/>
          <p:nvPr/>
        </p:nvSpPr>
        <p:spPr>
          <a:xfrm>
            <a:off x="3635744" y="2085502"/>
            <a:ext cx="787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Limpopo</a:t>
            </a:r>
            <a:endParaRPr lang="en-ZA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5B223-E1A7-890F-A032-E7BC14EB477E}"/>
              </a:ext>
            </a:extLst>
          </p:cNvPr>
          <p:cNvSpPr txBox="1"/>
          <p:nvPr/>
        </p:nvSpPr>
        <p:spPr>
          <a:xfrm>
            <a:off x="4334244" y="2362502"/>
            <a:ext cx="132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Mpumalanga</a:t>
            </a:r>
            <a:endParaRPr lang="en-ZA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CEEA7-B9A9-D721-5FF4-1BAAC2DE3AE7}"/>
              </a:ext>
            </a:extLst>
          </p:cNvPr>
          <p:cNvSpPr txBox="1"/>
          <p:nvPr/>
        </p:nvSpPr>
        <p:spPr>
          <a:xfrm>
            <a:off x="3394442" y="2617700"/>
            <a:ext cx="11176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Free State</a:t>
            </a:r>
            <a:endParaRPr lang="en-ZA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1890DD-359F-BFEC-DF66-43780A722916}"/>
              </a:ext>
            </a:extLst>
          </p:cNvPr>
          <p:cNvSpPr txBox="1"/>
          <p:nvPr/>
        </p:nvSpPr>
        <p:spPr>
          <a:xfrm>
            <a:off x="3602468" y="3108027"/>
            <a:ext cx="173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Northen Cape</a:t>
            </a:r>
            <a:endParaRPr lang="en-ZA" sz="1200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48886075-EAD9-B84B-1140-3D28604835C5}"/>
              </a:ext>
            </a:extLst>
          </p:cNvPr>
          <p:cNvSpPr/>
          <p:nvPr/>
        </p:nvSpPr>
        <p:spPr>
          <a:xfrm>
            <a:off x="3838941" y="2362501"/>
            <a:ext cx="208026" cy="20361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9AC1460A-7406-FFB3-3DC7-7088861EBD92}"/>
              </a:ext>
            </a:extLst>
          </p:cNvPr>
          <p:cNvSpPr/>
          <p:nvPr/>
        </p:nvSpPr>
        <p:spPr>
          <a:xfrm>
            <a:off x="3745216" y="2854187"/>
            <a:ext cx="208026" cy="20361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2413ECD0-DE7F-BB9F-8067-A2381F8F8F87}"/>
              </a:ext>
            </a:extLst>
          </p:cNvPr>
          <p:cNvSpPr/>
          <p:nvPr/>
        </p:nvSpPr>
        <p:spPr>
          <a:xfrm>
            <a:off x="4767571" y="2615848"/>
            <a:ext cx="208026" cy="20361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1E832764-840E-4A19-EE84-81810F422593}"/>
              </a:ext>
            </a:extLst>
          </p:cNvPr>
          <p:cNvSpPr/>
          <p:nvPr/>
        </p:nvSpPr>
        <p:spPr>
          <a:xfrm>
            <a:off x="3427718" y="3121719"/>
            <a:ext cx="208026" cy="20361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2E132B-C502-540E-BB6B-43C5AF17CB91}"/>
              </a:ext>
            </a:extLst>
          </p:cNvPr>
          <p:cNvSpPr txBox="1"/>
          <p:nvPr/>
        </p:nvSpPr>
        <p:spPr>
          <a:xfrm>
            <a:off x="7642594" y="4216380"/>
            <a:ext cx="132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Mpumalanga</a:t>
            </a:r>
            <a:endParaRPr lang="en-ZA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DBB5CD-FDC1-91DC-DC01-28A5B4D08214}"/>
              </a:ext>
            </a:extLst>
          </p:cNvPr>
          <p:cNvSpPr txBox="1"/>
          <p:nvPr/>
        </p:nvSpPr>
        <p:spPr>
          <a:xfrm>
            <a:off x="6861544" y="4887078"/>
            <a:ext cx="173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Northen Cape</a:t>
            </a:r>
            <a:endParaRPr lang="en-ZA" sz="1200" dirty="0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A0F06C61-7EAE-B4C7-5289-D44B69F0C7E1}"/>
              </a:ext>
            </a:extLst>
          </p:cNvPr>
          <p:cNvSpPr/>
          <p:nvPr/>
        </p:nvSpPr>
        <p:spPr>
          <a:xfrm>
            <a:off x="7434568" y="4253071"/>
            <a:ext cx="208026" cy="203616"/>
          </a:xfrm>
          <a:prstGeom prst="flowChartConnector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C1049BE9-CC1E-89D1-EE93-3C2BD0B203EB}"/>
              </a:ext>
            </a:extLst>
          </p:cNvPr>
          <p:cNvSpPr/>
          <p:nvPr/>
        </p:nvSpPr>
        <p:spPr>
          <a:xfrm>
            <a:off x="6690248" y="4923769"/>
            <a:ext cx="208026" cy="203616"/>
          </a:xfrm>
          <a:prstGeom prst="flowChartConnector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58905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4ABF8-C325-5DF6-706C-C52CCF27F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443614"/>
            <a:ext cx="7729805" cy="68675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600" cap="none" dirty="0">
                <a:solidFill>
                  <a:schemeClr val="tx1"/>
                </a:solidFill>
              </a:rPr>
              <a:t>Diagnostic Matrix: Known vs. Unknown</a:t>
            </a:r>
            <a:endParaRPr lang="en-ZA" sz="3600" cap="none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FE96A-7771-7F4B-D02E-CA9C2F8D1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598" y="5331265"/>
            <a:ext cx="9366102" cy="747239"/>
          </a:xfrm>
          <a:ln>
            <a:solidFill>
              <a:schemeClr val="accent2"/>
            </a:solidFill>
          </a:ln>
        </p:spPr>
        <p:txBody>
          <a:bodyPr/>
          <a:lstStyle/>
          <a:p>
            <a:pPr algn="l"/>
            <a:r>
              <a:rPr lang="en-GB" dirty="0">
                <a:solidFill>
                  <a:schemeClr val="tx1"/>
                </a:solidFill>
              </a:rPr>
              <a:t>Ghost users represent trapped revenue. Fixing data hygiene is a direct path to increasing Average Revenue Per User (ARPU)</a:t>
            </a:r>
            <a:endParaRPr lang="en-ZA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D02251-FD74-E273-0F48-D2080E0AC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77421"/>
              </p:ext>
            </p:extLst>
          </p:nvPr>
        </p:nvGraphicFramePr>
        <p:xfrm>
          <a:off x="1117598" y="1669312"/>
          <a:ext cx="9366102" cy="3221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2034">
                  <a:extLst>
                    <a:ext uri="{9D8B030D-6E8A-4147-A177-3AD203B41FA5}">
                      <a16:colId xmlns:a16="http://schemas.microsoft.com/office/drawing/2014/main" val="201268290"/>
                    </a:ext>
                  </a:extLst>
                </a:gridCol>
                <a:gridCol w="3122034">
                  <a:extLst>
                    <a:ext uri="{9D8B030D-6E8A-4147-A177-3AD203B41FA5}">
                      <a16:colId xmlns:a16="http://schemas.microsoft.com/office/drawing/2014/main" val="201198096"/>
                    </a:ext>
                  </a:extLst>
                </a:gridCol>
                <a:gridCol w="3122034">
                  <a:extLst>
                    <a:ext uri="{9D8B030D-6E8A-4147-A177-3AD203B41FA5}">
                      <a16:colId xmlns:a16="http://schemas.microsoft.com/office/drawing/2014/main" val="4201178480"/>
                    </a:ext>
                  </a:extLst>
                </a:gridCol>
              </a:tblGrid>
              <a:tr h="521466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Fully Profiled Viewer</a:t>
                      </a:r>
                      <a:endParaRPr lang="en-ZA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2"/>
                          </a:solidFill>
                        </a:rPr>
                        <a:t>Ghost User</a:t>
                      </a:r>
                      <a:endParaRPr lang="en-ZA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640915"/>
                  </a:ext>
                </a:extLst>
              </a:tr>
              <a:tr h="900066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Marketing Addressability</a:t>
                      </a:r>
                      <a:endParaRPr lang="en-Z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 (Hyper-local ad targeting)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Zero (Cannot target by region or age)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32245"/>
                  </a:ext>
                </a:extLst>
              </a:tr>
              <a:tr h="900066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Estimated Lifetime Value (LTV)</a:t>
                      </a:r>
                      <a:endParaRPr lang="en-Z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Optimized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Depressed (Inability to serve premium ads)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94816"/>
                  </a:ext>
                </a:extLst>
              </a:tr>
              <a:tr h="900066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Churn Risk</a:t>
                      </a:r>
                      <a:endParaRPr lang="en-Z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Predictable via modelling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 (Recommendations lack geo-context)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211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988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21840-1876-D4E8-90D0-3B552A694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779131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200" cap="none" dirty="0">
                <a:solidFill>
                  <a:schemeClr val="tx1"/>
                </a:solidFill>
              </a:rPr>
              <a:t>Audience Persona 1</a:t>
            </a:r>
            <a:endParaRPr lang="en-ZA" sz="3200" cap="none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93F9B-822C-38C4-A125-BF5B463BD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911" y="6134987"/>
            <a:ext cx="9962707" cy="577123"/>
          </a:xfrm>
          <a:ln>
            <a:solidFill>
              <a:schemeClr val="accent2"/>
            </a:solidFill>
          </a:ln>
        </p:spPr>
        <p:txBody>
          <a:bodyPr>
            <a:normAutofit fontScale="92500" lnSpcReduction="10000"/>
          </a:bodyPr>
          <a:lstStyle/>
          <a:p>
            <a:pPr algn="l"/>
            <a:r>
              <a:rPr lang="en-GB" b="0" dirty="0">
                <a:solidFill>
                  <a:schemeClr val="tx1"/>
                </a:solidFill>
              </a:rPr>
              <a:t>The Urban Millennial is the platforms' centre of gravity. They are deeply connected, highly urban, and represent the ideal target for rapid social media acquisition </a:t>
            </a:r>
            <a:endParaRPr lang="en-ZA" b="0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D80ED75-725C-67F0-F654-6BBADE90FAB1}"/>
              </a:ext>
            </a:extLst>
          </p:cNvPr>
          <p:cNvSpPr txBox="1">
            <a:spLocks/>
          </p:cNvSpPr>
          <p:nvPr/>
        </p:nvSpPr>
        <p:spPr>
          <a:xfrm>
            <a:off x="754912" y="1765005"/>
            <a:ext cx="5007935" cy="4019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>
                <a:solidFill>
                  <a:schemeClr val="tx1"/>
                </a:solidFill>
              </a:rPr>
              <a:t>Profile Card.</a:t>
            </a:r>
          </a:p>
          <a:p>
            <a:pPr algn="l"/>
            <a:r>
              <a:rPr lang="en-GB">
                <a:solidFill>
                  <a:schemeClr val="tx1"/>
                </a:solidFill>
              </a:rPr>
              <a:t>The Regional Gen-Xer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0">
                <a:solidFill>
                  <a:schemeClr val="tx1"/>
                </a:solidFill>
              </a:rPr>
              <a:t>40-55 Years Old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0">
                <a:solidFill>
                  <a:schemeClr val="tx1"/>
                </a:solidFill>
              </a:rPr>
              <a:t>White, Indian &amp; Coloured presence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0">
                <a:solidFill>
                  <a:schemeClr val="tx1"/>
                </a:solidFill>
              </a:rPr>
              <a:t>Western Cape &amp; Eastern Cape</a:t>
            </a:r>
            <a:endParaRPr lang="en-ZA" b="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6D70EA-56DA-F84F-0BE0-88D46B0DB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9"/>
          <a:stretch>
            <a:fillRect/>
          </a:stretch>
        </p:blipFill>
        <p:spPr>
          <a:xfrm>
            <a:off x="6144979" y="1765003"/>
            <a:ext cx="5114899" cy="401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66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B409F-0DE0-1AC5-B6FB-81CA8A022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842927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600" cap="none" dirty="0">
                <a:solidFill>
                  <a:schemeClr val="tx1"/>
                </a:solidFill>
              </a:rPr>
              <a:t>Audience Persona 2</a:t>
            </a:r>
            <a:endParaRPr lang="en-ZA" sz="3600" cap="none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DC4DC-1195-9E16-FEB1-DA237E750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912" y="1765005"/>
            <a:ext cx="5007935" cy="4019107"/>
          </a:xfrm>
          <a:ln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GB" dirty="0">
                <a:solidFill>
                  <a:schemeClr val="tx1"/>
                </a:solidFill>
              </a:rPr>
              <a:t>Profile Card.</a:t>
            </a:r>
          </a:p>
          <a:p>
            <a:pPr algn="l"/>
            <a:r>
              <a:rPr lang="en-GB" dirty="0">
                <a:solidFill>
                  <a:schemeClr val="tx1"/>
                </a:solidFill>
              </a:rPr>
              <a:t>The Regional Gen-Xer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0" dirty="0">
                <a:solidFill>
                  <a:schemeClr val="tx1"/>
                </a:solidFill>
              </a:rPr>
              <a:t>40-55 Years Old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0" dirty="0">
                <a:solidFill>
                  <a:schemeClr val="tx1"/>
                </a:solidFill>
              </a:rPr>
              <a:t>White, Indian &amp; Coloured presence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0" dirty="0">
                <a:solidFill>
                  <a:schemeClr val="tx1"/>
                </a:solidFill>
              </a:rPr>
              <a:t>Western Cape &amp; Eastern Cape</a:t>
            </a:r>
            <a:endParaRPr lang="en-ZA" b="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93BDD-82B8-2204-4E6E-7AABFE801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7"/>
          <a:stretch>
            <a:fillRect/>
          </a:stretch>
        </p:blipFill>
        <p:spPr>
          <a:xfrm>
            <a:off x="6347637" y="1765004"/>
            <a:ext cx="5089451" cy="4019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E3047D-8859-2742-B421-27366BCD81C9}"/>
              </a:ext>
            </a:extLst>
          </p:cNvPr>
          <p:cNvSpPr txBox="1"/>
          <p:nvPr/>
        </p:nvSpPr>
        <p:spPr>
          <a:xfrm>
            <a:off x="634029" y="6071189"/>
            <a:ext cx="10487627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The Regional Gen-Xer provides stability. This older, regionally distributed cohort represents high retention potential outside the primary Gauteng cluster.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33303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62FC5-6F58-424B-03E9-23752F7D3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10119315" cy="672593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3200" cap="none" dirty="0">
                <a:solidFill>
                  <a:schemeClr val="tx1"/>
                </a:solidFill>
              </a:rPr>
              <a:t>Cross-sectional Analysis: Age vs location</a:t>
            </a:r>
            <a:endParaRPr lang="en-ZA" sz="3200" cap="none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3D9F1-DE4F-8FEE-877A-FB6967BCA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8" y="5720356"/>
            <a:ext cx="9195771" cy="672594"/>
          </a:xfrm>
          <a:ln>
            <a:solidFill>
              <a:schemeClr val="accent2"/>
            </a:solidFill>
          </a:ln>
        </p:spPr>
        <p:txBody>
          <a:bodyPr>
            <a:normAutofit/>
          </a:bodyPr>
          <a:lstStyle/>
          <a:p>
            <a:pPr algn="l"/>
            <a:r>
              <a:rPr lang="en-GB" sz="1600" dirty="0">
                <a:solidFill>
                  <a:schemeClr val="tx1"/>
                </a:solidFill>
              </a:rPr>
              <a:t>Younger audience are fiercely concentrated in Gauteng, while older demographics are more evenly distributed across coastal provinces. Content acquisition must map these regional age skews.</a:t>
            </a:r>
            <a:endParaRPr lang="en-ZA" sz="16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9F5CE5-9452-588C-94E3-A87517B36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377396"/>
              </p:ext>
            </p:extLst>
          </p:nvPr>
        </p:nvGraphicFramePr>
        <p:xfrm>
          <a:off x="634029" y="1677461"/>
          <a:ext cx="6242259" cy="38018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69983">
                  <a:extLst>
                    <a:ext uri="{9D8B030D-6E8A-4147-A177-3AD203B41FA5}">
                      <a16:colId xmlns:a16="http://schemas.microsoft.com/office/drawing/2014/main" val="2836901718"/>
                    </a:ext>
                  </a:extLst>
                </a:gridCol>
                <a:gridCol w="1260233">
                  <a:extLst>
                    <a:ext uri="{9D8B030D-6E8A-4147-A177-3AD203B41FA5}">
                      <a16:colId xmlns:a16="http://schemas.microsoft.com/office/drawing/2014/main" val="1287244273"/>
                    </a:ext>
                  </a:extLst>
                </a:gridCol>
                <a:gridCol w="1296674">
                  <a:extLst>
                    <a:ext uri="{9D8B030D-6E8A-4147-A177-3AD203B41FA5}">
                      <a16:colId xmlns:a16="http://schemas.microsoft.com/office/drawing/2014/main" val="830303660"/>
                    </a:ext>
                  </a:extLst>
                </a:gridCol>
                <a:gridCol w="1000594">
                  <a:extLst>
                    <a:ext uri="{9D8B030D-6E8A-4147-A177-3AD203B41FA5}">
                      <a16:colId xmlns:a16="http://schemas.microsoft.com/office/drawing/2014/main" val="3288964200"/>
                    </a:ext>
                  </a:extLst>
                </a:gridCol>
                <a:gridCol w="1114775">
                  <a:extLst>
                    <a:ext uri="{9D8B030D-6E8A-4147-A177-3AD203B41FA5}">
                      <a16:colId xmlns:a16="http://schemas.microsoft.com/office/drawing/2014/main" val="3289549228"/>
                    </a:ext>
                  </a:extLst>
                </a:gridCol>
              </a:tblGrid>
              <a:tr h="414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Sum of Subscriber_Count</a:t>
                      </a:r>
                      <a:endParaRPr lang="en-ZA" sz="11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u="none" strike="noStrike" cap="none" spc="0" dirty="0" err="1">
                          <a:solidFill>
                            <a:schemeClr val="bg1"/>
                          </a:solidFill>
                          <a:effectLst/>
                        </a:rPr>
                        <a:t>Age_Groups</a:t>
                      </a:r>
                      <a:endParaRPr lang="en-ZA" sz="11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ZA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ZA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ZA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/>
                </a:tc>
                <a:extLst>
                  <a:ext uri="{0D108BD9-81ED-4DB2-BD59-A6C34878D82A}">
                    <a16:rowId xmlns:a16="http://schemas.microsoft.com/office/drawing/2014/main" val="2021362476"/>
                  </a:ext>
                </a:extLst>
              </a:tr>
              <a:tr h="4145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Province</a:t>
                      </a:r>
                      <a:endParaRPr lang="en-ZA" sz="11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Boomers (56+)</a:t>
                      </a:r>
                      <a:endParaRPr lang="en-ZA" sz="11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Gen X (41-55)</a:t>
                      </a:r>
                      <a:endParaRPr lang="en-ZA" sz="11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Gen Z (under 25)</a:t>
                      </a:r>
                      <a:endParaRPr lang="en-ZA" sz="11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Millennials (25-40)</a:t>
                      </a:r>
                      <a:endParaRPr lang="en-ZA" sz="11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876959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Eastern Cape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67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53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157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334410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Free State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34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35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86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083172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Gauteng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51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336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278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1039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23851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Kwazulu Natal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87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77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305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926100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Limpopo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37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82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244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2619883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Mpumalanga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68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100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248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883845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Null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Null</a:t>
                      </a: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Null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Null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649532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North West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32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27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96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385322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Northern Cape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58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940361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Western Cape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19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192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92</a:t>
                      </a:r>
                      <a:endParaRPr lang="en-ZA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488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336095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Total	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	113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	858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761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2722</a:t>
                      </a:r>
                      <a:endParaRPr lang="en-ZA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77" marR="6877" marT="6877" marB="82524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624845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743B2C0-E01C-C054-808A-32590F3F04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6934003"/>
              </p:ext>
            </p:extLst>
          </p:nvPr>
        </p:nvGraphicFramePr>
        <p:xfrm>
          <a:off x="7022592" y="1884934"/>
          <a:ext cx="5020056" cy="3692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9131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FFE21-D6C9-B303-C484-BCB15B1AB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8722622" cy="1002415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2800" cap="none" dirty="0">
                <a:solidFill>
                  <a:schemeClr val="tx1"/>
                </a:solidFill>
              </a:rPr>
              <a:t>Synthesis: The Engagement Lifecycle</a:t>
            </a:r>
            <a:endParaRPr lang="en-ZA" sz="2800" cap="none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E6C58-797D-6EB1-9B17-42760C2CE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0913" y="5698261"/>
            <a:ext cx="8722621" cy="614928"/>
          </a:xfrm>
          <a:ln>
            <a:solidFill>
              <a:schemeClr val="accent2"/>
            </a:solidFill>
          </a:ln>
        </p:spPr>
        <p:txBody>
          <a:bodyPr>
            <a:normAutofit lnSpcReduction="10000"/>
          </a:bodyPr>
          <a:lstStyle/>
          <a:p>
            <a:pPr algn="l"/>
            <a:r>
              <a:rPr lang="en-GB" dirty="0">
                <a:solidFill>
                  <a:schemeClr val="tx1"/>
                </a:solidFill>
              </a:rPr>
              <a:t>We do not have a ‘bad data’ problem; we have an incomplete UX journey. Ghost users are captive audience waiting for targeted UI nudges.</a:t>
            </a:r>
            <a:endParaRPr lang="en-ZA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F3FB8D-EE46-7CA3-8C8A-7D0C6BD82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913" y="2025314"/>
            <a:ext cx="9650172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66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37CD-A0AB-310B-94EF-2B8375991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1041991"/>
            <a:ext cx="7152035" cy="669851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GB" sz="3600" cap="none" dirty="0">
                <a:solidFill>
                  <a:schemeClr val="tx1"/>
                </a:solidFill>
              </a:rPr>
              <a:t>Strategic Imperative 1: Data Remediation</a:t>
            </a:r>
            <a:endParaRPr lang="en-ZA" sz="3600" cap="none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04F0C8-1585-9DA7-7604-29BB9F2DD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6184081"/>
            <a:ext cx="10806604" cy="440566"/>
          </a:xfrm>
          <a:ln>
            <a:solidFill>
              <a:schemeClr val="accent2"/>
            </a:solidFill>
          </a:ln>
        </p:spPr>
        <p:txBody>
          <a:bodyPr>
            <a:normAutofit/>
          </a:bodyPr>
          <a:lstStyle/>
          <a:p>
            <a:pPr algn="l"/>
            <a:r>
              <a:rPr lang="en-GB" sz="1800" b="0" dirty="0">
                <a:solidFill>
                  <a:schemeClr val="tx1"/>
                </a:solidFill>
              </a:rPr>
              <a:t>Transform ‘None’ into known coordinates by integrating progressive profiling directly into the streaming interface.</a:t>
            </a:r>
            <a:endParaRPr lang="en-ZA" sz="1800" b="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E7630-5B53-FD9A-DCEF-21E17FD057A0}"/>
              </a:ext>
            </a:extLst>
          </p:cNvPr>
          <p:cNvSpPr txBox="1"/>
          <p:nvPr/>
        </p:nvSpPr>
        <p:spPr>
          <a:xfrm>
            <a:off x="634029" y="2040871"/>
            <a:ext cx="2919581" cy="38880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16C76-10EE-3B3C-56D4-C223D5292BFF}"/>
              </a:ext>
            </a:extLst>
          </p:cNvPr>
          <p:cNvSpPr txBox="1"/>
          <p:nvPr/>
        </p:nvSpPr>
        <p:spPr>
          <a:xfrm>
            <a:off x="4415842" y="2040871"/>
            <a:ext cx="2919581" cy="38880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E26FBB-4771-96A5-A268-B46C3FB04204}"/>
              </a:ext>
            </a:extLst>
          </p:cNvPr>
          <p:cNvSpPr txBox="1"/>
          <p:nvPr/>
        </p:nvSpPr>
        <p:spPr>
          <a:xfrm>
            <a:off x="8172447" y="2040871"/>
            <a:ext cx="2919581" cy="38880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ZA" dirty="0"/>
          </a:p>
        </p:txBody>
      </p:sp>
      <p:pic>
        <p:nvPicPr>
          <p:cNvPr id="8" name="Graphic 7" descr="Computer outline">
            <a:extLst>
              <a:ext uri="{FF2B5EF4-FFF2-40B4-BE49-F238E27FC236}">
                <a16:creationId xmlns:a16="http://schemas.microsoft.com/office/drawing/2014/main" id="{BC4B7723-3D7D-1A34-AA63-E42F06BE1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563" y="2690037"/>
            <a:ext cx="2285999" cy="1918610"/>
          </a:xfrm>
          <a:prstGeom prst="rect">
            <a:avLst/>
          </a:prstGeom>
        </p:spPr>
      </p:pic>
      <p:pic>
        <p:nvPicPr>
          <p:cNvPr id="10" name="Graphic 9" descr="Server outline">
            <a:extLst>
              <a:ext uri="{FF2B5EF4-FFF2-40B4-BE49-F238E27FC236}">
                <a16:creationId xmlns:a16="http://schemas.microsoft.com/office/drawing/2014/main" id="{F0AC58B7-1F9F-6019-65D6-EC70B702BE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5935" y="2736647"/>
            <a:ext cx="1872000" cy="1872000"/>
          </a:xfrm>
          <a:prstGeom prst="rect">
            <a:avLst/>
          </a:prstGeom>
        </p:spPr>
      </p:pic>
      <p:pic>
        <p:nvPicPr>
          <p:cNvPr id="12" name="Graphic 11" descr="Badge Tick with solid fill">
            <a:extLst>
              <a:ext uri="{FF2B5EF4-FFF2-40B4-BE49-F238E27FC236}">
                <a16:creationId xmlns:a16="http://schemas.microsoft.com/office/drawing/2014/main" id="{56075DEA-E00E-A6CD-595C-91A9F98662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0368" y="2690037"/>
            <a:ext cx="1908000" cy="190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C472DF-7E77-6F67-5A71-3B4A41FFEF45}"/>
              </a:ext>
            </a:extLst>
          </p:cNvPr>
          <p:cNvSpPr txBox="1"/>
          <p:nvPr/>
        </p:nvSpPr>
        <p:spPr>
          <a:xfrm>
            <a:off x="893135" y="4720856"/>
            <a:ext cx="2360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Introduce soft UI nudges to unlock localized channels</a:t>
            </a:r>
            <a:endParaRPr lang="en-Z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6992F3-4D90-61EF-0546-471019B1C50F}"/>
              </a:ext>
            </a:extLst>
          </p:cNvPr>
          <p:cNvSpPr txBox="1"/>
          <p:nvPr/>
        </p:nvSpPr>
        <p:spPr>
          <a:xfrm>
            <a:off x="4695418" y="4720856"/>
            <a:ext cx="2360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Fram data collection as a UX upgrade, not a form.</a:t>
            </a:r>
            <a:endParaRPr lang="en-Z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5ED3D2-5B39-F235-19CF-C9B635377377}"/>
              </a:ext>
            </a:extLst>
          </p:cNvPr>
          <p:cNvSpPr txBox="1"/>
          <p:nvPr/>
        </p:nvSpPr>
        <p:spPr>
          <a:xfrm>
            <a:off x="8452023" y="4720856"/>
            <a:ext cx="23604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Reward profile completion with a premium feature or ad-free window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1635813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52AF-BAC8-9475-7E4C-F43DEF5DA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5000"/>
            <a:ext cx="7152035" cy="725968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2800" cap="none" dirty="0">
                <a:solidFill>
                  <a:schemeClr val="tx1"/>
                </a:solidFill>
              </a:rPr>
              <a:t>Strategic Imperative 2: Targeted Acquisition</a:t>
            </a:r>
            <a:endParaRPr lang="en-ZA" sz="2800" cap="none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E412DF-7D0B-E4B8-35E9-7CD68465C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599" y="6239120"/>
            <a:ext cx="10688569" cy="554566"/>
          </a:xfrm>
          <a:ln>
            <a:solidFill>
              <a:schemeClr val="accent2"/>
            </a:solidFill>
          </a:ln>
        </p:spPr>
        <p:txBody>
          <a:bodyPr>
            <a:normAutofit lnSpcReduction="10000"/>
          </a:bodyPr>
          <a:lstStyle/>
          <a:p>
            <a:pPr algn="l"/>
            <a:r>
              <a:rPr lang="en-GB" sz="1800" dirty="0">
                <a:solidFill>
                  <a:schemeClr val="tx1"/>
                </a:solidFill>
              </a:rPr>
              <a:t>Leverage our verified personas to capture the whitespace. Bright TV’s next phase of growth lies in converting regional dark spots into thriving hubs.</a:t>
            </a:r>
            <a:endParaRPr lang="en-ZA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cx4="http://schemas.microsoft.com/office/drawing/2016/5/10/chartex" Requires="cx4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A8D58E85-734A-4C2C-AF8E-546C72AC888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81818200"/>
                  </p:ext>
                </p:extLst>
              </p:nvPr>
            </p:nvGraphicFramePr>
            <p:xfrm>
              <a:off x="3179508" y="1360968"/>
              <a:ext cx="7304566" cy="475275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A8D58E85-734A-4C2C-AF8E-546C72AC888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9508" y="1360968"/>
                <a:ext cx="7304566" cy="4752753"/>
              </a:xfrm>
              <a:prstGeom prst="rect">
                <a:avLst/>
              </a:prstGeom>
            </p:spPr>
          </p:pic>
        </mc:Fallback>
      </mc:AlternateContent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73F9DB64-7515-1DC7-CE55-E675EE2F20DF}"/>
              </a:ext>
            </a:extLst>
          </p:cNvPr>
          <p:cNvCxnSpPr>
            <a:cxnSpLocks/>
          </p:cNvCxnSpPr>
          <p:nvPr/>
        </p:nvCxnSpPr>
        <p:spPr>
          <a:xfrm flipV="1">
            <a:off x="5816381" y="4311201"/>
            <a:ext cx="2636875" cy="1079507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F6E253CF-0869-46DC-B41B-4ED2F9BEE46D}"/>
              </a:ext>
            </a:extLst>
          </p:cNvPr>
          <p:cNvCxnSpPr>
            <a:cxnSpLocks/>
          </p:cNvCxnSpPr>
          <p:nvPr/>
        </p:nvCxnSpPr>
        <p:spPr>
          <a:xfrm rot="5400000">
            <a:off x="7485357" y="3194445"/>
            <a:ext cx="585466" cy="202021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06EC78CC-BF4E-40F7-8F26-219C6E6D8262}"/>
              </a:ext>
            </a:extLst>
          </p:cNvPr>
          <p:cNvCxnSpPr>
            <a:cxnSpLocks/>
          </p:cNvCxnSpPr>
          <p:nvPr/>
        </p:nvCxnSpPr>
        <p:spPr>
          <a:xfrm flipV="1">
            <a:off x="7879101" y="2650470"/>
            <a:ext cx="1648043" cy="235292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0BC495BE-CB1C-4438-BE6B-E762800C52C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356034" y="3186621"/>
            <a:ext cx="2504946" cy="2137144"/>
          </a:xfrm>
          <a:prstGeom prst="curvedConnector3">
            <a:avLst>
              <a:gd name="adj1" fmla="val 51698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1BA9096-77C9-3FF3-74B2-148191089CC1}"/>
              </a:ext>
            </a:extLst>
          </p:cNvPr>
          <p:cNvSpPr txBox="1"/>
          <p:nvPr/>
        </p:nvSpPr>
        <p:spPr>
          <a:xfrm>
            <a:off x="1486276" y="2988024"/>
            <a:ext cx="2897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dirty="0">
                <a:solidFill>
                  <a:schemeClr val="accent2"/>
                </a:solidFill>
              </a:rPr>
              <a:t>C</a:t>
            </a:r>
          </a:p>
          <a:p>
            <a:pPr algn="r"/>
            <a:r>
              <a:rPr lang="en-GB" sz="1600" dirty="0"/>
              <a:t>Aggressive Whitespace acquisition in Central/Northern province</a:t>
            </a:r>
            <a:endParaRPr lang="en-ZA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949A67-DAB9-15B2-8CE0-17794CBC8B0F}"/>
              </a:ext>
            </a:extLst>
          </p:cNvPr>
          <p:cNvSpPr txBox="1"/>
          <p:nvPr/>
        </p:nvSpPr>
        <p:spPr>
          <a:xfrm>
            <a:off x="7984095" y="4798107"/>
            <a:ext cx="21929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B</a:t>
            </a:r>
          </a:p>
          <a:p>
            <a:r>
              <a:rPr lang="en-GB" sz="1600" dirty="0"/>
              <a:t>Expand the Regional Gen-Xer footprint</a:t>
            </a:r>
            <a:endParaRPr lang="en-ZA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DF7058-D066-DF03-039B-E2877A1F5B03}"/>
              </a:ext>
            </a:extLst>
          </p:cNvPr>
          <p:cNvSpPr txBox="1"/>
          <p:nvPr/>
        </p:nvSpPr>
        <p:spPr>
          <a:xfrm>
            <a:off x="9527144" y="2182007"/>
            <a:ext cx="1746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A</a:t>
            </a:r>
          </a:p>
          <a:p>
            <a:r>
              <a:rPr lang="en-GB" sz="1600" dirty="0"/>
              <a:t>Consolidate the Urban Millennial base in Gauteng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1121227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D598-F677-458D-D76D-1776875F6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0299" y="3264195"/>
            <a:ext cx="7152035" cy="797442"/>
          </a:xfr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GB" sz="4000" b="1" dirty="0"/>
              <a:t>Thank you</a:t>
            </a:r>
            <a:endParaRPr lang="en-ZA" sz="4000" b="1" dirty="0"/>
          </a:p>
        </p:txBody>
      </p:sp>
    </p:spTree>
    <p:extLst>
      <p:ext uri="{BB962C8B-B14F-4D97-AF65-F5344CB8AC3E}">
        <p14:creationId xmlns:p14="http://schemas.microsoft.com/office/powerpoint/2010/main" val="1236058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694</Words>
  <Application>Microsoft Office PowerPoint</Application>
  <PresentationFormat>Widescreen</PresentationFormat>
  <Paragraphs>147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Aptos Narrow</vt:lpstr>
      <vt:lpstr>Arial</vt:lpstr>
      <vt:lpstr>Office Theme</vt:lpstr>
      <vt:lpstr>Bright TV Audience Intelligence Report</vt:lpstr>
      <vt:lpstr>Executive Summary: The macro truths</vt:lpstr>
      <vt:lpstr>The Generational Divide</vt:lpstr>
      <vt:lpstr>The Diversity of viewership</vt:lpstr>
      <vt:lpstr>Geographic Density: The Core Markets</vt:lpstr>
      <vt:lpstr>Whitespace Expansion Matrix</vt:lpstr>
      <vt:lpstr>Diagnostic Matrix: Known vs. Unknown</vt:lpstr>
      <vt:lpstr>Audience Persona 1</vt:lpstr>
      <vt:lpstr>Audience Persona 2</vt:lpstr>
      <vt:lpstr>Cross-sectional Analysis: Age vs location</vt:lpstr>
      <vt:lpstr>Synthesis: The Engagement Lifecycle</vt:lpstr>
      <vt:lpstr>Strategic Imperative 1: Data Remediation</vt:lpstr>
      <vt:lpstr>Strategic Imperative 2: Targeted Acquisition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Boitumelo Simelane</dc:creator>
  <cp:lastModifiedBy>Boitumelo Simelane</cp:lastModifiedBy>
  <cp:revision>1</cp:revision>
  <dcterms:created xsi:type="dcterms:W3CDTF">2026-04-18T09:20:04Z</dcterms:created>
  <dcterms:modified xsi:type="dcterms:W3CDTF">2026-04-18T12:51:16Z</dcterms:modified>
</cp:coreProperties>
</file>